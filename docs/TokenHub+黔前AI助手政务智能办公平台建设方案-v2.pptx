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1667"/>
            </a:avLst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1912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1912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162050"/>
            <a:ext cx="4667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173A67"/>
                </a:solidFill>
              </a:defRPr>
            </a:pPr>
            <a:r>
              <a:rPr sz="4050" b="1">
                <a:solidFill>
                  <a:srgbClr val="173A67"/>
                </a:solidFill>
              </a:rPr>
              <a:t>政务智能办公平台建设方案</a:t>
            </a:r>
            <a:endParaRPr sz="4050" b="1">
              <a:solidFill>
                <a:srgbClr val="173A67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2514600"/>
            <a:ext cx="914400" cy="57150"/>
          </a:xfrm>
          <a:prstGeom prst="rect">
            <a:avLst/>
          </a:prstGeom>
          <a:solidFill>
            <a:srgbClr val="43A7DF"/>
          </a:solidFill>
          <a:ln w="0">
            <a:solidFill>
              <a:srgbClr val="43A7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277177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246FB3"/>
                </a:solidFill>
              </a:defRPr>
            </a:pPr>
            <a:r>
              <a:rPr sz="1725" b="1">
                <a:solidFill>
                  <a:srgbClr val="246FB3"/>
                </a:solidFill>
              </a:rPr>
              <a:t>TokenHub + 黔前 AI 助手</a:t>
            </a:r>
            <a:endParaRPr sz="1725" b="1">
              <a:solidFill>
                <a:srgbClr val="246FB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333750"/>
            <a:ext cx="4048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82B3E"/>
                </a:solidFill>
              </a:defRPr>
            </a:pPr>
            <a:r>
              <a:rPr sz="1800" b="0">
                <a:solidFill>
                  <a:srgbClr val="182B3E"/>
                </a:solidFill>
              </a:rPr>
              <a:t>以统一 AI 能力底座，支撑安全可控的政务办公智能化</a:t>
            </a:r>
            <a:endParaRPr sz="1800" b="0">
              <a:solidFill>
                <a:srgbClr val="182B3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42950" y="476250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E8F2FA"/>
          </a:solidFill>
          <a:ln w="0">
            <a:solidFill>
              <a:srgbClr val="E8F2F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4829175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173A67"/>
                </a:solidFill>
              </a:defRPr>
            </a:pPr>
            <a:r>
              <a:rPr sz="1050" b="1">
                <a:solidFill>
                  <a:srgbClr val="173A67"/>
                </a:solidFill>
              </a:rPr>
              <a:t>数字政府</a:t>
            </a:r>
            <a:endParaRPr sz="1050" b="1">
              <a:solidFill>
                <a:srgbClr val="173A67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962150" y="4762500"/>
            <a:ext cx="1200150" cy="323850"/>
          </a:xfrm>
          <a:prstGeom prst="roundRect">
            <a:avLst>
              <a:gd name="adj" fmla="val 50000"/>
            </a:avLst>
          </a:prstGeom>
          <a:solidFill>
            <a:srgbClr val="E8F2FA"/>
          </a:solidFill>
          <a:ln w="0">
            <a:solidFill>
              <a:srgbClr val="E8F2F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962150" y="4829175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173A67"/>
                </a:solidFill>
              </a:defRPr>
            </a:pPr>
            <a:r>
              <a:rPr sz="1050" b="1">
                <a:solidFill>
                  <a:srgbClr val="173A67"/>
                </a:solidFill>
              </a:rPr>
              <a:t>安全可控</a:t>
            </a:r>
            <a:endParaRPr sz="1050" b="1">
              <a:solidFill>
                <a:srgbClr val="173A67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276600" y="4762500"/>
            <a:ext cx="1200150" cy="323850"/>
          </a:xfrm>
          <a:prstGeom prst="roundRect">
            <a:avLst>
              <a:gd name="adj" fmla="val 50000"/>
            </a:avLst>
          </a:prstGeom>
          <a:solidFill>
            <a:srgbClr val="E8F2FA"/>
          </a:solidFill>
          <a:ln w="0">
            <a:solidFill>
              <a:srgbClr val="E8F2F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276600" y="4829175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173A67"/>
                </a:solidFill>
              </a:defRPr>
            </a:pPr>
            <a:r>
              <a:rPr sz="1050" b="1">
                <a:solidFill>
                  <a:srgbClr val="173A67"/>
                </a:solidFill>
              </a:rPr>
              <a:t>集约建设</a:t>
            </a:r>
            <a:endParaRPr sz="1050" b="1">
              <a:solidFill>
                <a:srgbClr val="173A6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6000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2026 年 7 月</a:t>
            </a:r>
            <a:endParaRPr sz="1200" b="0">
              <a:solidFill>
                <a:srgbClr val="60718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02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政务办公的关键矛盾：事务密集，知识分散，安全边界刚性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建设目标不是增加一个聊天窗口，而是把 AI 纳入可管理的政务工作流。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781175"/>
            <a:ext cx="762000" cy="57150"/>
          </a:xfrm>
          <a:prstGeom prst="rect">
            <a:avLst/>
          </a:prstGeom>
          <a:solidFill>
            <a:srgbClr val="43A7DF"/>
          </a:solidFill>
          <a:ln w="0">
            <a:solidFill>
              <a:srgbClr val="43A7D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1907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246FB3"/>
                </a:solidFill>
              </a:defRPr>
            </a:pPr>
            <a:r>
              <a:rPr sz="1950" b="1">
                <a:solidFill>
                  <a:srgbClr val="246FB3"/>
                </a:solidFill>
              </a:rPr>
              <a:t>01</a:t>
            </a:r>
            <a:endParaRPr sz="1950" b="1">
              <a:solidFill>
                <a:srgbClr val="246FB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14450" y="220027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82B3E"/>
                </a:solidFill>
              </a:defRPr>
            </a:pPr>
            <a:r>
              <a:rPr sz="1650" b="1">
                <a:solidFill>
                  <a:srgbClr val="182B3E"/>
                </a:solidFill>
              </a:rPr>
              <a:t>材料工作高频且规范</a:t>
            </a:r>
            <a:endParaRPr sz="1650" b="1">
              <a:solidFill>
                <a:srgbClr val="182B3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14450" y="2533650"/>
            <a:ext cx="2647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公文、汇报、纪要、信息报送等任务耗时，质量依赖经验人员。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95800" y="21907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246FB3"/>
                </a:solidFill>
              </a:defRPr>
            </a:pPr>
            <a:r>
              <a:rPr sz="1950" b="1">
                <a:solidFill>
                  <a:srgbClr val="246FB3"/>
                </a:solidFill>
              </a:rPr>
              <a:t>02</a:t>
            </a:r>
            <a:endParaRPr sz="1950" b="1">
              <a:solidFill>
                <a:srgbClr val="246FB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91100" y="220027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82B3E"/>
                </a:solidFill>
              </a:defRPr>
            </a:pPr>
            <a:r>
              <a:rPr sz="1650" b="1">
                <a:solidFill>
                  <a:srgbClr val="182B3E"/>
                </a:solidFill>
              </a:rPr>
              <a:t>知识资产难以复用</a:t>
            </a:r>
            <a:endParaRPr sz="1650" b="1">
              <a:solidFill>
                <a:srgbClr val="182B3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991100" y="2533650"/>
            <a:ext cx="2647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制度、政策、案例和流程资料分散，检索和口径核对成本高。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72450" y="219075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246FB3"/>
                </a:solidFill>
              </a:defRPr>
            </a:pPr>
            <a:r>
              <a:rPr sz="1950" b="1">
                <a:solidFill>
                  <a:srgbClr val="246FB3"/>
                </a:solidFill>
              </a:rPr>
              <a:t>03</a:t>
            </a:r>
            <a:endParaRPr sz="1950" b="1">
              <a:solidFill>
                <a:srgbClr val="246FB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67750" y="220027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82B3E"/>
                </a:solidFill>
              </a:defRPr>
            </a:pPr>
            <a:r>
              <a:rPr sz="1650" b="1">
                <a:solidFill>
                  <a:srgbClr val="182B3E"/>
                </a:solidFill>
              </a:rPr>
              <a:t>安全与责任不可缺席</a:t>
            </a:r>
            <a:endParaRPr sz="1650" b="1">
              <a:solidFill>
                <a:srgbClr val="182B3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67750" y="2533650"/>
            <a:ext cx="2647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政务资料、使用权限、输出内容和运行过程都必须可控、可审计。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19150" y="4429125"/>
            <a:ext cx="10458450" cy="1162050"/>
          </a:xfrm>
          <a:prstGeom prst="roundRect">
            <a:avLst>
              <a:gd name="adj" fmla="val 9836"/>
            </a:avLst>
          </a:prstGeom>
          <a:solidFill>
            <a:srgbClr val="E8F2FA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123950" y="47053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建设判断</a:t>
            </a:r>
            <a:endParaRPr sz="1500" b="1">
              <a:solidFill>
                <a:srgbClr val="246FB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590800" y="4629150"/>
            <a:ext cx="7962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82B3E"/>
                </a:solidFill>
              </a:defRPr>
            </a:pPr>
            <a:r>
              <a:rPr sz="1725" b="1">
                <a:solidFill>
                  <a:srgbClr val="182B3E"/>
                </a:solidFill>
              </a:rPr>
              <a:t>需要以统一底座把模型、知识、权限与审计集中管理；以政务工作台把能力封装为可用、可核、可推广的具体场景。</a:t>
            </a:r>
            <a:endParaRPr sz="1725" b="1">
              <a:solidFill>
                <a:srgbClr val="182B3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03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双层分工：黔前 AI 助手服务工作人员，TokenHub 治理 AI 能力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前台重体验与场景，后台重模型、知识、安全与运营，避免能力重复建设。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2095500"/>
            <a:ext cx="4476750" cy="2971800"/>
          </a:xfrm>
          <a:prstGeom prst="roundRect">
            <a:avLst>
              <a:gd name="adj" fmla="val 3846"/>
            </a:avLst>
          </a:prstGeom>
          <a:solidFill>
            <a:srgbClr val="EAF4FB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4765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173A67"/>
                </a:solidFill>
              </a:defRPr>
            </a:pPr>
            <a:r>
              <a:rPr sz="2325" b="1">
                <a:solidFill>
                  <a:srgbClr val="173A67"/>
                </a:solidFill>
              </a:rPr>
              <a:t>黔前 AI 助手</a:t>
            </a:r>
            <a:endParaRPr sz="2325" b="1">
              <a:solidFill>
                <a:srgbClr val="173A6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971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政务工作台</a:t>
            </a:r>
            <a:endParaRPr sz="1500" b="1">
              <a:solidFill>
                <a:srgbClr val="246FB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419475"/>
            <a:ext cx="3238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82B3E"/>
                </a:solidFill>
              </a:defRPr>
            </a:pPr>
            <a:r>
              <a:rPr sz="1500" b="0">
                <a:solidFill>
                  <a:srgbClr val="182B3E"/>
                </a:solidFill>
              </a:rPr>
              <a:t>• 公文与材料辅助</a:t>
            </a:r>
            <a:endParaRPr sz="1500" b="0">
              <a:solidFill>
                <a:srgbClr val="182B3E"/>
              </a:solidFill>
            </a:endParaRPr>
          </a:p>
          <a:p>
            <a:pPr algn="l">
              <a:defRPr sz="1500" b="0">
                <a:solidFill>
                  <a:srgbClr val="182B3E"/>
                </a:solidFill>
              </a:defRPr>
            </a:pPr>
            <a:r>
              <a:rPr sz="1500" b="0">
                <a:solidFill>
                  <a:srgbClr val="182B3E"/>
                </a:solidFill>
              </a:rPr>
              <a:t>• 政策制度问答</a:t>
            </a:r>
            <a:endParaRPr sz="1500" b="0">
              <a:solidFill>
                <a:srgbClr val="182B3E"/>
              </a:solidFill>
            </a:endParaRPr>
          </a:p>
          <a:p>
            <a:pPr algn="l">
              <a:defRPr sz="1500" b="0">
                <a:solidFill>
                  <a:srgbClr val="182B3E"/>
                </a:solidFill>
              </a:defRPr>
            </a:pPr>
            <a:r>
              <a:rPr sz="1500" b="0">
                <a:solidFill>
                  <a:srgbClr val="182B3E"/>
                </a:solidFill>
              </a:rPr>
              <a:t>• 会议纪要与信息报送</a:t>
            </a:r>
            <a:endParaRPr sz="1500" b="0">
              <a:solidFill>
                <a:srgbClr val="182B3E"/>
              </a:solidFill>
            </a:endParaRPr>
          </a:p>
          <a:p>
            <a:pPr algn="l">
              <a:defRPr sz="1500" b="0">
                <a:solidFill>
                  <a:srgbClr val="182B3E"/>
                </a:solidFill>
              </a:defRPr>
            </a:pPr>
            <a:r>
              <a:rPr sz="1500" b="0">
                <a:solidFill>
                  <a:srgbClr val="182B3E"/>
                </a:solidFill>
              </a:rPr>
              <a:t>• 数字员工与自动化任务</a:t>
            </a:r>
            <a:endParaRPr sz="1500" b="0">
              <a:solidFill>
                <a:srgbClr val="182B3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95900" y="32861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607182"/>
                </a:solidFill>
              </a:defRPr>
            </a:pPr>
            <a:r>
              <a:rPr sz="1200" b="1">
                <a:solidFill>
                  <a:srgbClr val="607182"/>
                </a:solidFill>
              </a:rPr>
              <a:t>受控 API 调用</a:t>
            </a:r>
            <a:endParaRPr sz="1200" b="1">
              <a:solidFill>
                <a:srgbClr val="60718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486400" y="36671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900" b="1">
                <a:solidFill>
                  <a:srgbClr val="43A7DF"/>
                </a:solidFill>
              </a:defRPr>
            </a:pPr>
            <a:r>
              <a:rPr sz="3900" b="1">
                <a:solidFill>
                  <a:srgbClr val="43A7DF"/>
                </a:solidFill>
              </a:rPr>
              <a:t>→</a:t>
            </a:r>
            <a:endParaRPr sz="3900" b="1">
              <a:solidFill>
                <a:srgbClr val="43A7D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029450" y="2095500"/>
            <a:ext cx="4476750" cy="2971800"/>
          </a:xfrm>
          <a:prstGeom prst="roundRect">
            <a:avLst>
              <a:gd name="adj" fmla="val 3846"/>
            </a:avLst>
          </a:prstGeom>
          <a:solidFill>
            <a:srgbClr val="183B66"/>
          </a:solidFill>
          <a:ln w="9525">
            <a:solidFill>
              <a:srgbClr val="173A6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10450" y="24765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TokenHub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410450" y="29718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B8DBF2"/>
                </a:solidFill>
              </a:defRPr>
            </a:pPr>
            <a:r>
              <a:rPr sz="1500" b="1">
                <a:solidFill>
                  <a:srgbClr val="B8DBF2"/>
                </a:solidFill>
              </a:rPr>
              <a:t>统一 AI 能力底座</a:t>
            </a:r>
            <a:endParaRPr sz="1500" b="1">
              <a:solidFill>
                <a:srgbClr val="B8DBF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0" y="3419475"/>
            <a:ext cx="338137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多模型接入与路由</a:t>
            </a:r>
            <a:endParaRPr sz="1500" b="0">
              <a:solidFill>
                <a:srgbClr val="FFFFFF"/>
              </a:solidFill>
            </a:endParaR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RAG 知识库与文件处理</a:t>
            </a:r>
            <a:endParaRPr sz="1500" b="0">
              <a:solidFill>
                <a:srgbClr val="FFFFFF"/>
              </a:solidFill>
            </a:endParaR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API Key 权限与审计</a:t>
            </a:r>
            <a:endParaRPr sz="1500" b="0">
              <a:solidFill>
                <a:srgbClr val="FFFFFF"/>
              </a:solidFill>
            </a:endParaR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用量、配额与运行治理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733550" y="5638800"/>
            <a:ext cx="872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核心价值：场景快速落地，同时保留组织级统一治理能力。</a:t>
            </a:r>
            <a:endParaRPr sz="1725" b="1">
              <a:solidFill>
                <a:srgbClr val="173A6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TokenHub 核心价值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04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TokenHub 不是单一接口，而是政务 AI 服务的统一控制面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它把原本分散在各类模型、知识库和应用中的治理工作集中到一个底座。 </a:t>
            </a:r>
            <a:endParaRPr sz="1350" b="0">
              <a:solidFill>
                <a:srgbClr val="607182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rcRect l="12531" r="12531"/>
          <a:stretch>
            <a:fillRect/>
          </a:stretch>
        </p:blipFill>
        <p:spPr>
          <a:xfrm>
            <a:off x="6858000" y="1981200"/>
            <a:ext cx="4629150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762000" y="2076450"/>
            <a:ext cx="53149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62025" y="22479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01</a:t>
            </a:r>
            <a:endParaRPr sz="1350" b="1">
              <a:solidFill>
                <a:srgbClr val="246FB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24000" y="22002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模型服务</a:t>
            </a:r>
            <a:endParaRPr sz="1500" b="1">
              <a:solidFill>
                <a:srgbClr val="173A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38450" y="2209800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统一接入不同模型，应用不直接绑定具体厂商。</a:t>
            </a:r>
            <a:endParaRPr sz="1200" b="0">
              <a:solidFill>
                <a:srgbClr val="607182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62000" y="2905125"/>
            <a:ext cx="53149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62025" y="30765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02</a:t>
            </a:r>
            <a:endParaRPr sz="1350" b="1">
              <a:solidFill>
                <a:srgbClr val="246FB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24000" y="30289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知识服务</a:t>
            </a:r>
            <a:endParaRPr sz="1500" b="1">
              <a:solidFill>
                <a:srgbClr val="173A6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38450" y="3038475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将文件、问答与向量检索沉淀为可复用的 RAG 服务。</a:t>
            </a:r>
            <a:endParaRPr sz="1200" b="0">
              <a:solidFill>
                <a:srgbClr val="607182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2000" y="3733800"/>
            <a:ext cx="53149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62025" y="39052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03</a:t>
            </a:r>
            <a:endParaRPr sz="1350" b="1">
              <a:solidFill>
                <a:srgbClr val="246FB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24000" y="385762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权限服务</a:t>
            </a:r>
            <a:endParaRPr sz="1500" b="1">
              <a:solidFill>
                <a:srgbClr val="173A6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38450" y="3867150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按应用/API Key 授权可调用模型与可访问知识资源。</a:t>
            </a:r>
            <a:endParaRPr sz="1200" b="0">
              <a:solidFill>
                <a:srgbClr val="607182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62000" y="4562475"/>
            <a:ext cx="53149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62025" y="47339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04</a:t>
            </a:r>
            <a:endParaRPr sz="1350" b="1">
              <a:solidFill>
                <a:srgbClr val="246FB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524000" y="46863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运营服务</a:t>
            </a:r>
            <a:endParaRPr sz="1500" b="1">
              <a:solidFill>
                <a:srgbClr val="173A6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838450" y="4695825"/>
            <a:ext cx="2943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对用量、配额、日志和异常进行集中管理。</a:t>
            </a:r>
            <a:endParaRPr sz="1200" b="0">
              <a:solidFill>
                <a:srgbClr val="60718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TokenHub 核心价值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05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模型网关让政务应用“面向能力”而不是“绑定厂商”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一个工作台可以在受控策略下调用适合不同任务的模型，而无需反复改造业务系统。 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23622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173A67"/>
                </a:solidFill>
              </a:defRPr>
            </a:pPr>
            <a:r>
              <a:rPr sz="1950" b="1">
                <a:solidFill>
                  <a:srgbClr val="173A67"/>
                </a:solidFill>
              </a:rPr>
              <a:t>政务工作台</a:t>
            </a:r>
            <a:endParaRPr sz="1950" b="1">
              <a:solidFill>
                <a:srgbClr val="173A67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85825" y="2933700"/>
            <a:ext cx="2190750" cy="1009650"/>
          </a:xfrm>
          <a:prstGeom prst="roundRect">
            <a:avLst>
              <a:gd name="adj" fmla="val 11321"/>
            </a:avLst>
          </a:prstGeom>
          <a:solidFill>
            <a:srgbClr val="E8F2FA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315277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82B3E"/>
                </a:solidFill>
              </a:defRPr>
            </a:pPr>
            <a:r>
              <a:rPr sz="1350" b="0">
                <a:solidFill>
                  <a:srgbClr val="182B3E"/>
                </a:solidFill>
              </a:rPr>
              <a:t>公文 / 问答 / 纪要</a:t>
            </a:r>
            <a:endParaRPr sz="1350" b="0">
              <a:solidFill>
                <a:srgbClr val="182B3E"/>
              </a:solidFill>
            </a:endParaRPr>
          </a:p>
          <a:p>
            <a:pPr algn="ctr">
              <a:defRPr sz="1350" b="0">
                <a:solidFill>
                  <a:srgbClr val="182B3E"/>
                </a:solidFill>
              </a:defRPr>
            </a:pPr>
            <a:r>
              <a:rPr sz="1350" b="0">
                <a:solidFill>
                  <a:srgbClr val="182B3E"/>
                </a:solidFill>
              </a:rPr>
              <a:t>专题材料 / 自动化任务</a:t>
            </a:r>
            <a:endParaRPr sz="1350" b="0">
              <a:solidFill>
                <a:srgbClr val="182B3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81375" y="3133725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900" b="1">
                <a:solidFill>
                  <a:srgbClr val="43A7DF"/>
                </a:solidFill>
              </a:defRPr>
            </a:pPr>
            <a:r>
              <a:rPr sz="3900" b="1">
                <a:solidFill>
                  <a:srgbClr val="43A7DF"/>
                </a:solidFill>
              </a:rPr>
              <a:t>→</a:t>
            </a:r>
            <a:endParaRPr sz="3900" b="1">
              <a:solidFill>
                <a:srgbClr val="43A7D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591050" y="2209800"/>
            <a:ext cx="2990850" cy="2438400"/>
          </a:xfrm>
          <a:prstGeom prst="roundRect">
            <a:avLst>
              <a:gd name="adj" fmla="val 4688"/>
            </a:avLst>
          </a:prstGeom>
          <a:solidFill>
            <a:srgbClr val="173A67"/>
          </a:solidFill>
          <a:ln w="0">
            <a:solidFill>
              <a:srgbClr val="173A6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000625" y="2609850"/>
            <a:ext cx="2171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TokenHub</a:t>
            </a:r>
            <a:endParaRPr sz="2325" b="1">
              <a:solidFill>
                <a:srgbClr val="FFFFFF"/>
              </a:solidFill>
            </a:endParaRPr>
          </a:p>
          <a:p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模型网关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048250" y="3600450"/>
            <a:ext cx="2076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C5E7F8"/>
                </a:solidFill>
              </a:defRPr>
            </a:pPr>
            <a:r>
              <a:rPr sz="1275" b="0">
                <a:solidFill>
                  <a:srgbClr val="C5E7F8"/>
                </a:solidFill>
              </a:rPr>
              <a:t>路由策略 · 可用性 · 权限</a:t>
            </a:r>
            <a:endParaRPr sz="1275" b="0">
              <a:solidFill>
                <a:srgbClr val="C5E7F8"/>
              </a:solidFill>
            </a:endParaRPr>
          </a:p>
          <a:p>
            <a:pPr algn="ctr">
              <a:defRPr sz="1275" b="0">
                <a:solidFill>
                  <a:srgbClr val="C5E7F8"/>
                </a:solidFill>
              </a:defRPr>
            </a:pPr>
            <a:r>
              <a:rPr sz="1275" b="0">
                <a:solidFill>
                  <a:srgbClr val="C5E7F8"/>
                </a:solidFill>
              </a:rPr>
              <a:t>用量计量 · 异常治理</a:t>
            </a:r>
            <a:endParaRPr sz="1275" b="0">
              <a:solidFill>
                <a:srgbClr val="C5E7F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67650" y="3133725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900" b="1">
                <a:solidFill>
                  <a:srgbClr val="43A7DF"/>
                </a:solidFill>
              </a:defRPr>
            </a:pPr>
            <a:r>
              <a:rPr sz="3900" b="1">
                <a:solidFill>
                  <a:srgbClr val="43A7DF"/>
                </a:solidFill>
              </a:rPr>
              <a:t>→</a:t>
            </a:r>
            <a:endParaRPr sz="3900" b="1">
              <a:solidFill>
                <a:srgbClr val="43A7D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144000" y="2266950"/>
            <a:ext cx="2095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24288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73A67"/>
                </a:solidFill>
              </a:defRPr>
            </a:pPr>
            <a:r>
              <a:rPr sz="1425" b="1">
                <a:solidFill>
                  <a:srgbClr val="173A67"/>
                </a:solidFill>
              </a:rPr>
              <a:t>文本生成</a:t>
            </a:r>
            <a:endParaRPr sz="1425" b="1">
              <a:solidFill>
                <a:srgbClr val="173A67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144000" y="3048000"/>
            <a:ext cx="2095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0" y="32099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73A67"/>
                </a:solidFill>
              </a:defRPr>
            </a:pPr>
            <a:r>
              <a:rPr sz="1425" b="1">
                <a:solidFill>
                  <a:srgbClr val="173A67"/>
                </a:solidFill>
              </a:rPr>
              <a:t>长文理解</a:t>
            </a:r>
            <a:endParaRPr sz="1425" b="1">
              <a:solidFill>
                <a:srgbClr val="173A67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144000" y="3829050"/>
            <a:ext cx="2095500" cy="552450"/>
          </a:xfrm>
          <a:prstGeom prst="roundRect">
            <a:avLst>
              <a:gd name="adj" fmla="val 20690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44000" y="39909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73A67"/>
                </a:solidFill>
              </a:defRPr>
            </a:pPr>
            <a:r>
              <a:rPr sz="1425" b="1">
                <a:solidFill>
                  <a:srgbClr val="173A67"/>
                </a:solidFill>
              </a:rPr>
              <a:t>向量检索</a:t>
            </a:r>
            <a:endParaRPr sz="1425" b="1">
              <a:solidFill>
                <a:srgbClr val="173A67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466850" y="5353050"/>
            <a:ext cx="9220200" cy="609600"/>
          </a:xfrm>
          <a:prstGeom prst="roundRect">
            <a:avLst>
              <a:gd name="adj" fmla="val 18750"/>
            </a:avLst>
          </a:prstGeom>
          <a:solidFill>
            <a:srgbClr val="E8F2FA"/>
          </a:solidFill>
          <a:ln w="0">
            <a:solidFill>
              <a:srgbClr val="E8F2F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790700" y="55435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对政府的价值：模型可替换、调用可约束、故障可处置，新增场景不再重复做模型接入。</a:t>
            </a:r>
            <a:endParaRPr sz="1650" b="1">
              <a:solidFill>
                <a:srgbClr val="173A6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TokenHub 核心价值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06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RAG 知识服务把“文件堆”转化为可管理、可追溯的政务知识能力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知识库不只是上传文档，而是由权限、处理、检索、引用和持续更新共同构成的服务。 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2619375"/>
            <a:ext cx="2000250" cy="20383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8575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43A7DF"/>
                </a:solidFill>
              </a:defRPr>
            </a:pPr>
            <a:r>
              <a:rPr sz="1650" b="1">
                <a:solidFill>
                  <a:srgbClr val="43A7DF"/>
                </a:solidFill>
              </a:rPr>
              <a:t>01</a:t>
            </a:r>
            <a:endParaRPr sz="1650" b="1">
              <a:solidFill>
                <a:srgbClr val="43A7D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3295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资料入库</a:t>
            </a:r>
            <a:endParaRPr sz="1650" b="1">
              <a:solidFill>
                <a:srgbClr val="173A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71475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制度、政策、流程、案例与专题材料按范围进入知识空间。</a:t>
            </a:r>
            <a:endParaRPr sz="1200" b="0">
              <a:solidFill>
                <a:srgbClr val="6071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09875" y="33051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400" b="1">
                <a:solidFill>
                  <a:srgbClr val="43A7DF"/>
                </a:solidFill>
              </a:defRPr>
            </a:pPr>
            <a:r>
              <a:rPr sz="2400" b="1">
                <a:solidFill>
                  <a:srgbClr val="43A7DF"/>
                </a:solidFill>
              </a:rPr>
              <a:t>→</a:t>
            </a:r>
            <a:endParaRPr sz="2400" b="1">
              <a:solidFill>
                <a:srgbClr val="43A7D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209925" y="2619375"/>
            <a:ext cx="2000250" cy="20383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00425" y="28575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43A7DF"/>
                </a:solidFill>
              </a:defRPr>
            </a:pPr>
            <a:r>
              <a:rPr sz="1650" b="1">
                <a:solidFill>
                  <a:srgbClr val="43A7DF"/>
                </a:solidFill>
              </a:rPr>
              <a:t>02</a:t>
            </a:r>
            <a:endParaRPr sz="1650" b="1">
              <a:solidFill>
                <a:srgbClr val="43A7D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00425" y="3295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智能处理</a:t>
            </a:r>
            <a:endParaRPr sz="1650" b="1">
              <a:solidFill>
                <a:srgbClr val="173A6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00425" y="371475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文件解析、切分与向量化，形成适配问答和材料辅助的检索基础。</a:t>
            </a:r>
            <a:endParaRPr sz="1200" b="0">
              <a:solidFill>
                <a:srgbClr val="60718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19700" y="33051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400" b="1">
                <a:solidFill>
                  <a:srgbClr val="43A7DF"/>
                </a:solidFill>
              </a:defRPr>
            </a:pPr>
            <a:r>
              <a:rPr sz="2400" b="1">
                <a:solidFill>
                  <a:srgbClr val="43A7DF"/>
                </a:solidFill>
              </a:rPr>
              <a:t>→</a:t>
            </a:r>
            <a:endParaRPr sz="2400" b="1">
              <a:solidFill>
                <a:srgbClr val="43A7D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619750" y="2619375"/>
            <a:ext cx="2000250" cy="20383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810250" y="28575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43A7DF"/>
                </a:solidFill>
              </a:defRPr>
            </a:pPr>
            <a:r>
              <a:rPr sz="1650" b="1">
                <a:solidFill>
                  <a:srgbClr val="43A7DF"/>
                </a:solidFill>
              </a:rPr>
              <a:t>03</a:t>
            </a:r>
            <a:endParaRPr sz="1650" b="1">
              <a:solidFill>
                <a:srgbClr val="43A7D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10250" y="3295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受控检索</a:t>
            </a:r>
            <a:endParaRPr sz="1650" b="1">
              <a:solidFill>
                <a:srgbClr val="173A6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810250" y="371475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按用户、部门、应用与知识空间限制检索范围并返回依据。</a:t>
            </a:r>
            <a:endParaRPr sz="1200" b="0">
              <a:solidFill>
                <a:srgbClr val="60718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9525" y="33051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400" b="1">
                <a:solidFill>
                  <a:srgbClr val="43A7DF"/>
                </a:solidFill>
              </a:defRPr>
            </a:pPr>
            <a:r>
              <a:rPr sz="2400" b="1">
                <a:solidFill>
                  <a:srgbClr val="43A7DF"/>
                </a:solidFill>
              </a:rPr>
              <a:t>→</a:t>
            </a:r>
            <a:endParaRPr sz="2400" b="1">
              <a:solidFill>
                <a:srgbClr val="43A7D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029575" y="2619375"/>
            <a:ext cx="2000250" cy="20383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220075" y="28575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43A7DF"/>
                </a:solidFill>
              </a:defRPr>
            </a:pPr>
            <a:r>
              <a:rPr sz="1650" b="1">
                <a:solidFill>
                  <a:srgbClr val="43A7DF"/>
                </a:solidFill>
              </a:rPr>
              <a:t>04</a:t>
            </a:r>
            <a:endParaRPr sz="1650" b="1">
              <a:solidFill>
                <a:srgbClr val="43A7D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20075" y="3295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场景交付</a:t>
            </a:r>
            <a:endParaRPr sz="1650" b="1">
              <a:solidFill>
                <a:srgbClr val="173A6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220075" y="371475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在制度问答、材料起草、会议整理等场景中呈现可复核结果。</a:t>
            </a:r>
            <a:endParaRPr sz="1200" b="0">
              <a:solidFill>
                <a:srgbClr val="60718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00150" y="5324475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知识价值不在于“存得更多”，而在于让授权人员更快获得有依据、可复核的答案与材料。</a:t>
            </a:r>
            <a:endParaRPr sz="1725" b="1">
              <a:solidFill>
                <a:srgbClr val="173A6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TokenHub 核心价值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07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权限、审计与运营，让 AI 应用具备政务所需的可控性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TokenHub 将“谁能调用、能调用什么、调用了多少、发生了什么”固化为统一治理能力。 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2409825"/>
            <a:ext cx="3162300" cy="2628900"/>
          </a:xfrm>
          <a:prstGeom prst="roundRect">
            <a:avLst>
              <a:gd name="adj" fmla="val 4348"/>
            </a:avLst>
          </a:prstGeom>
          <a:solidFill>
            <a:srgbClr val="E8F2FA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27432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46FB3"/>
                </a:solidFill>
              </a:defRPr>
            </a:pPr>
            <a:r>
              <a:rPr sz="1650" b="1">
                <a:solidFill>
                  <a:srgbClr val="246FB3"/>
                </a:solidFill>
              </a:rPr>
              <a:t>01</a:t>
            </a:r>
            <a:endParaRPr sz="1650" b="1">
              <a:solidFill>
                <a:srgbClr val="246FB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32670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最小授权</a:t>
            </a:r>
            <a:endParaRPr sz="2025" b="1">
              <a:solidFill>
                <a:srgbClr val="173A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04900" y="3838575"/>
            <a:ext cx="2438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按应用/API Key 授予模型与知识库访问范围，避免业务侧直接持有上游厂商密钥。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71975" y="2409825"/>
            <a:ext cx="3162300" cy="2628900"/>
          </a:xfrm>
          <a:prstGeom prst="roundRect">
            <a:avLst>
              <a:gd name="adj" fmla="val 4348"/>
            </a:avLst>
          </a:prstGeom>
          <a:solidFill>
            <a:srgbClr val="173A67"/>
          </a:solidFill>
          <a:ln w="9525">
            <a:solidFill>
              <a:srgbClr val="173A6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95825" y="27432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A8DDF5"/>
                </a:solidFill>
              </a:defRPr>
            </a:pPr>
            <a:r>
              <a:rPr sz="1650" b="1">
                <a:solidFill>
                  <a:srgbClr val="A8DDF5"/>
                </a:solidFill>
              </a:rPr>
              <a:t>02</a:t>
            </a:r>
            <a:endParaRPr sz="1650" b="1">
              <a:solidFill>
                <a:srgbClr val="A8DDF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95825" y="32670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全程留痕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95825" y="3838575"/>
            <a:ext cx="2438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CECF6"/>
                </a:solidFill>
              </a:defRPr>
            </a:pPr>
            <a:r>
              <a:rPr sz="1350" b="0">
                <a:solidFill>
                  <a:srgbClr val="DCECF6"/>
                </a:solidFill>
              </a:rPr>
              <a:t>记录调用来源、模型、知识范围、用量与异常，支撑问题排查和责任追溯。</a:t>
            </a:r>
            <a:endParaRPr sz="1350" b="0">
              <a:solidFill>
                <a:srgbClr val="DCECF6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962900" y="2409825"/>
            <a:ext cx="3162300" cy="2628900"/>
          </a:xfrm>
          <a:prstGeom prst="roundRect">
            <a:avLst>
              <a:gd name="adj" fmla="val 4348"/>
            </a:avLst>
          </a:prstGeom>
          <a:solidFill>
            <a:srgbClr val="E8F2FA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27432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46FB3"/>
                </a:solidFill>
              </a:defRPr>
            </a:pPr>
            <a:r>
              <a:rPr sz="1650" b="1">
                <a:solidFill>
                  <a:srgbClr val="246FB3"/>
                </a:solidFill>
              </a:rPr>
              <a:t>03</a:t>
            </a:r>
            <a:endParaRPr sz="1650" b="1">
              <a:solidFill>
                <a:srgbClr val="246FB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32670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资源运营</a:t>
            </a:r>
            <a:endParaRPr sz="2025" b="1">
              <a:solidFill>
                <a:srgbClr val="173A6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286750" y="3838575"/>
            <a:ext cx="2438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按部门、应用、场景观察消耗与配额，为推广、预算和质量优化提供依据。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5600700"/>
            <a:ext cx="887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安全不是事后补丁，而是 AI 服务底座从接入开始就具备的运行规则。</a:t>
            </a:r>
            <a:endParaRPr sz="1725" b="1">
              <a:solidFill>
                <a:srgbClr val="173A6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08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先从高频、边界清晰的政务场景开始，让价值可感知、可评估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建议以“文稿、知识、会议、报送”四类任务作为首批试点，形成可复制的场景包。 </a:t>
            </a:r>
            <a:endParaRPr sz="1350" b="0">
              <a:solidFill>
                <a:srgbClr val="607182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533" b="533"/>
          <a:stretch>
            <a:fillRect/>
          </a:stretch>
        </p:blipFill>
        <p:spPr>
          <a:xfrm>
            <a:off x="666750" y="2095500"/>
            <a:ext cx="5953125" cy="3314700"/>
          </a:xfrm>
          <a:prstGeom prst="roundRect">
            <a:avLst>
              <a:gd name="adj" fmla="val 3448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7239000" y="215265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公文与材料</a:t>
            </a:r>
            <a:endParaRPr sz="1650" b="1">
              <a:solidFill>
                <a:srgbClr val="173A6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248602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提纲、初稿、润色、要点核对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38950" y="2190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43A7DF"/>
          </a:solidFill>
          <a:ln w="0">
            <a:solidFill>
              <a:srgbClr val="43A7D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239000" y="297180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政策制度问答</a:t>
            </a:r>
            <a:endParaRPr sz="1650" b="1">
              <a:solidFill>
                <a:srgbClr val="173A6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0" y="330517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检索依据、统一口径、流程导航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38950" y="30099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39000" y="379095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会议智能协同</a:t>
            </a:r>
            <a:endParaRPr sz="1650" b="1">
              <a:solidFill>
                <a:srgbClr val="173A6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0" y="412432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转写、纪要、待办、责任分工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38950" y="3829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39000" y="461010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信息报送</a:t>
            </a:r>
            <a:endParaRPr sz="1650" b="1">
              <a:solidFill>
                <a:srgbClr val="173A6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0" y="494347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专题归纳、简报、材料汇总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838950" y="46482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762750" y="556260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统一底座保障每个场景共享模型、知识、权限和审计能力，而非各自建设。</a:t>
            </a:r>
            <a:endParaRPr sz="1500" b="1">
              <a:solidFill>
                <a:srgbClr val="246FB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09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安全与信创适配应成为建设前提，而不是项目后期补项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具体部署方式和适配清单应在调研阶段与现网环境、安全规范、采购要求共同确认。 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247900"/>
            <a:ext cx="476250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2476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私有化/专有环境</a:t>
            </a:r>
            <a:endParaRPr sz="1725" b="1">
              <a:solidFill>
                <a:srgbClr val="173A6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8670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按单位要求部署模型、知识库、文件处理与运行服务，明确数据处理边界。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86500" y="2247900"/>
            <a:ext cx="476250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553200" y="2476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知识分级隔离</a:t>
            </a:r>
            <a:endParaRPr sz="1725" b="1">
              <a:solidFill>
                <a:srgbClr val="173A6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53200" y="28670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按组织、部门、专题或密级规划知识空间与资料准入、检索、更新规则。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8200" y="3952875"/>
            <a:ext cx="476250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04900" y="41814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信创兼容策略</a:t>
            </a:r>
            <a:endParaRPr sz="1725" b="1">
              <a:solidFill>
                <a:srgbClr val="173A6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04900" y="45720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优先适配现有国产软硬件和办公环境，模型与基础组件按项目要求选型。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286500" y="3952875"/>
            <a:ext cx="4762500" cy="1257300"/>
          </a:xfrm>
          <a:prstGeom prst="roundRect">
            <a:avLst>
              <a:gd name="adj" fmla="val 9091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53200" y="41814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人工审核机制</a:t>
            </a:r>
            <a:endParaRPr sz="1725" b="1">
              <a:solidFill>
                <a:srgbClr val="173A6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53200" y="45720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重要材料、对外发布与关键结论继续沿用现行审批、校核和留痕流程。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43000" y="56292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以“数据不越界、人员不越权、内容可复核、过程可追溯”构建政务 AI 使用底线。</a:t>
            </a:r>
            <a:endParaRPr sz="1650" b="1">
              <a:solidFill>
                <a:srgbClr val="173A6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10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分三步推进：试点验证、部门推广、协同深化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以可用、可核、可控为每一阶段的共同验收原则。 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90575" y="2247900"/>
            <a:ext cx="318135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95375" y="25717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46FB3"/>
                </a:solidFill>
              </a:defRPr>
            </a:pPr>
            <a:r>
              <a:rPr sz="1650" b="1">
                <a:solidFill>
                  <a:srgbClr val="246FB3"/>
                </a:solidFill>
              </a:rPr>
              <a:t>01</a:t>
            </a:r>
            <a:endParaRPr sz="1650" b="1">
              <a:solidFill>
                <a:srgbClr val="246FB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95375" y="30670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试点验证</a:t>
            </a:r>
            <a:endParaRPr sz="2025" b="1">
              <a:solidFill>
                <a:srgbClr val="173A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95375" y="352425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2—3 个高频场景</a:t>
            </a:r>
            <a:endParaRPr sz="1350" b="1">
              <a:solidFill>
                <a:srgbClr val="246FB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95375" y="4010025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工作台、知识空间、基础权限与审计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95375" y="4600575"/>
            <a:ext cx="24765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95375" y="4762500"/>
            <a:ext cx="243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07182"/>
                </a:solidFill>
              </a:defRPr>
            </a:pPr>
            <a:r>
              <a:rPr sz="1125" b="0">
                <a:solidFill>
                  <a:srgbClr val="607182"/>
                </a:solidFill>
              </a:rPr>
              <a:t>验证安全可用、回答有依据、流程能衔接</a:t>
            </a:r>
            <a:endParaRPr sz="1125" b="0">
              <a:solidFill>
                <a:srgbClr val="607182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00550" y="2247900"/>
            <a:ext cx="3181350" cy="3048000"/>
          </a:xfrm>
          <a:prstGeom prst="roundRect">
            <a:avLst>
              <a:gd name="adj" fmla="val 3750"/>
            </a:avLst>
          </a:prstGeom>
          <a:solidFill>
            <a:srgbClr val="173A67"/>
          </a:solidFill>
          <a:ln w="9525">
            <a:solidFill>
              <a:srgbClr val="173A6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05350" y="25717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B7DDF2"/>
                </a:solidFill>
              </a:defRPr>
            </a:pPr>
            <a:r>
              <a:rPr sz="1650" b="1">
                <a:solidFill>
                  <a:srgbClr val="B7DDF2"/>
                </a:solidFill>
              </a:rPr>
              <a:t>02</a:t>
            </a:r>
            <a:endParaRPr sz="1650" b="1">
              <a:solidFill>
                <a:srgbClr val="B7DDF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05350" y="30670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部门推广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05350" y="352425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B7DDF2"/>
                </a:solidFill>
              </a:defRPr>
            </a:pPr>
            <a:r>
              <a:rPr sz="1350" b="1">
                <a:solidFill>
                  <a:srgbClr val="B7DDF2"/>
                </a:solidFill>
              </a:rPr>
              <a:t>场景包与模板沉淀</a:t>
            </a:r>
            <a:endParaRPr sz="1350" b="1">
              <a:solidFill>
                <a:srgbClr val="B7DDF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05350" y="4010025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E5F2F9"/>
                </a:solidFill>
              </a:defRPr>
            </a:pPr>
            <a:r>
              <a:rPr sz="1275" b="0">
                <a:solidFill>
                  <a:srgbClr val="E5F2F9"/>
                </a:solidFill>
              </a:rPr>
              <a:t>分部门知识库、数字员工、培训与运营</a:t>
            </a:r>
            <a:endParaRPr sz="1275" b="0">
              <a:solidFill>
                <a:srgbClr val="E5F2F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05350" y="4600575"/>
            <a:ext cx="2476500" cy="9525"/>
          </a:xfrm>
          <a:prstGeom prst="rect">
            <a:avLst/>
          </a:prstGeom>
          <a:solidFill>
            <a:srgbClr val="6DA9CF"/>
          </a:solidFill>
          <a:ln w="0">
            <a:solidFill>
              <a:srgbClr val="6DA9C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705350" y="4762500"/>
            <a:ext cx="243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D6E8F3"/>
                </a:solidFill>
              </a:defRPr>
            </a:pPr>
            <a:r>
              <a:rPr sz="1125" b="0">
                <a:solidFill>
                  <a:srgbClr val="D6E8F3"/>
                </a:solidFill>
              </a:rPr>
              <a:t>验证使用习惯、知识质量与资源治理</a:t>
            </a:r>
            <a:endParaRPr sz="1125" b="0">
              <a:solidFill>
                <a:srgbClr val="D6E8F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10525" y="2247900"/>
            <a:ext cx="318135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315325" y="25717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46FB3"/>
                </a:solidFill>
              </a:defRPr>
            </a:pPr>
            <a:r>
              <a:rPr sz="1650" b="1">
                <a:solidFill>
                  <a:srgbClr val="246FB3"/>
                </a:solidFill>
              </a:rPr>
              <a:t>03</a:t>
            </a:r>
            <a:endParaRPr sz="1650" b="1">
              <a:solidFill>
                <a:srgbClr val="246FB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15325" y="30670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协同深化</a:t>
            </a:r>
            <a:endParaRPr sz="2025" b="1">
              <a:solidFill>
                <a:srgbClr val="173A6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15325" y="352425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按需对接既有系统</a:t>
            </a:r>
            <a:endParaRPr sz="1350" b="1">
              <a:solidFill>
                <a:srgbClr val="246FB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15325" y="4010025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标准接口、自动化任务、组织级治理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15325" y="4600575"/>
            <a:ext cx="24765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315325" y="4762500"/>
            <a:ext cx="243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07182"/>
                </a:solidFill>
              </a:defRPr>
            </a:pPr>
            <a:r>
              <a:rPr sz="1125" b="0">
                <a:solidFill>
                  <a:srgbClr val="607182"/>
                </a:solidFill>
              </a:rPr>
              <a:t>验证跨系统协同和能力复用</a:t>
            </a:r>
            <a:endParaRPr sz="1125" b="0">
              <a:solidFill>
                <a:srgbClr val="60718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智慧大屏与运行治理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11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智慧大屏让管理者实时看见 AI 服务运行与资源使用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大屏不是展示装饰，而是把模型调用、资源消耗和运行状态变成可观察、可研判的管理视图。 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62900" y="2305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3A67"/>
                </a:solidFill>
              </a:defRPr>
            </a:pPr>
            <a:r>
              <a:rPr sz="1800" b="1">
                <a:solidFill>
                  <a:srgbClr val="173A67"/>
                </a:solidFill>
              </a:rPr>
              <a:t>管理者可关注</a:t>
            </a:r>
            <a:endParaRPr sz="1800" b="1">
              <a:solidFill>
                <a:srgbClr val="173A67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791450" y="2762250"/>
            <a:ext cx="347662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0" y="2924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3A7DF"/>
          </a:solidFill>
          <a:ln w="0">
            <a:solidFill>
              <a:srgbClr val="43A7D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286750" y="28575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3A67"/>
                </a:solidFill>
              </a:defRPr>
            </a:pPr>
            <a:r>
              <a:rPr sz="1350" b="1">
                <a:solidFill>
                  <a:srgbClr val="173A67"/>
                </a:solidFill>
              </a:rPr>
              <a:t>实时运行态势</a:t>
            </a:r>
            <a:endParaRPr sz="1350" b="1">
              <a:solidFill>
                <a:srgbClr val="173A6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86750" y="3057525"/>
            <a:ext cx="2571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182"/>
                </a:solidFill>
              </a:defRPr>
            </a:pPr>
            <a:r>
              <a:rPr sz="975" b="0">
                <a:solidFill>
                  <a:srgbClr val="607182"/>
                </a:solidFill>
              </a:rPr>
              <a:t>调用量、Token 消耗和服务状态集中呈现。</a:t>
            </a:r>
            <a:endParaRPr sz="975" b="0">
              <a:solidFill>
                <a:srgbClr val="607182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791450" y="3409950"/>
            <a:ext cx="347662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01000" y="3571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35052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3A67"/>
                </a:solidFill>
              </a:defRPr>
            </a:pPr>
            <a:r>
              <a:rPr sz="1350" b="1">
                <a:solidFill>
                  <a:srgbClr val="173A67"/>
                </a:solidFill>
              </a:rPr>
              <a:t>模型资源分布</a:t>
            </a:r>
            <a:endParaRPr sz="1350" b="1">
              <a:solidFill>
                <a:srgbClr val="173A6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3705225"/>
            <a:ext cx="2571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182"/>
                </a:solidFill>
              </a:defRPr>
            </a:pPr>
            <a:r>
              <a:rPr sz="975" b="0">
                <a:solidFill>
                  <a:srgbClr val="607182"/>
                </a:solidFill>
              </a:rPr>
              <a:t>按模型观察使用明细，为容量和策略调整提供依据。</a:t>
            </a:r>
            <a:endParaRPr sz="975" b="0">
              <a:solidFill>
                <a:srgbClr val="607182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791450" y="4057650"/>
            <a:ext cx="347662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8001000" y="4219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286750" y="41529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3A67"/>
                </a:solidFill>
              </a:defRPr>
            </a:pPr>
            <a:r>
              <a:rPr sz="1350" b="1">
                <a:solidFill>
                  <a:srgbClr val="173A67"/>
                </a:solidFill>
              </a:rPr>
              <a:t>用量与预算治理</a:t>
            </a:r>
            <a:endParaRPr sz="1350" b="1">
              <a:solidFill>
                <a:srgbClr val="173A6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86750" y="4352925"/>
            <a:ext cx="2571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182"/>
                </a:solidFill>
              </a:defRPr>
            </a:pPr>
            <a:r>
              <a:rPr sz="975" b="0">
                <a:solidFill>
                  <a:srgbClr val="607182"/>
                </a:solidFill>
              </a:rPr>
              <a:t>通过统一计量与配额，支撑资源统筹和异常识别。</a:t>
            </a:r>
            <a:endParaRPr sz="975" b="0">
              <a:solidFill>
                <a:srgbClr val="607182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791450" y="4705350"/>
            <a:ext cx="347662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01000" y="48672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286750" y="4800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3A67"/>
                </a:solidFill>
              </a:defRPr>
            </a:pPr>
            <a:r>
              <a:rPr sz="1350" b="1">
                <a:solidFill>
                  <a:srgbClr val="173A67"/>
                </a:solidFill>
              </a:rPr>
              <a:t>运行保障</a:t>
            </a:r>
            <a:endParaRPr sz="1350" b="1">
              <a:solidFill>
                <a:srgbClr val="173A6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286750" y="5000625"/>
            <a:ext cx="2571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182"/>
                </a:solidFill>
              </a:defRPr>
            </a:pPr>
            <a:r>
              <a:rPr sz="975" b="0">
                <a:solidFill>
                  <a:srgbClr val="607182"/>
                </a:solidFill>
              </a:rPr>
              <a:t>将大屏作为运营观察入口，辅助发现需要处置的问题。</a:t>
            </a:r>
            <a:endParaRPr sz="975" b="0">
              <a:solidFill>
                <a:srgbClr val="607182"/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2132965"/>
            <a:ext cx="6871335" cy="36836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政府采用后的价值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12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政府采用后，价值将从个人提效延展到组织协同与治理升级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以场景为入口、以统一底座为支撑，持续形成可复用、可运营的政务 AI 能力。 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42950" y="2476500"/>
            <a:ext cx="2419350" cy="2266950"/>
          </a:xfrm>
          <a:prstGeom prst="roundRect">
            <a:avLst>
              <a:gd name="adj" fmla="val 5042"/>
            </a:avLst>
          </a:prstGeom>
          <a:solidFill>
            <a:srgbClr val="E8F2FA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7622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01</a:t>
            </a:r>
            <a:endParaRPr sz="1500" b="1">
              <a:solidFill>
                <a:srgbClr val="246FB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32861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3A67"/>
                </a:solidFill>
              </a:defRPr>
            </a:pPr>
            <a:r>
              <a:rPr sz="1875" b="1">
                <a:solidFill>
                  <a:srgbClr val="173A67"/>
                </a:solidFill>
              </a:rPr>
              <a:t>工作人员</a:t>
            </a:r>
            <a:endParaRPr sz="1875" b="1">
              <a:solidFill>
                <a:srgbClr val="173A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829050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减少重复检索与整理，把时间更多投入分析、沟通和服务。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143250" y="33337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43A7DF"/>
                </a:solidFill>
              </a:defRPr>
            </a:pPr>
            <a:r>
              <a:rPr sz="2250" b="1">
                <a:solidFill>
                  <a:srgbClr val="43A7DF"/>
                </a:solidFill>
              </a:rPr>
              <a:t>→</a:t>
            </a:r>
            <a:endParaRPr sz="2250" b="1">
              <a:solidFill>
                <a:srgbClr val="43A7D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524250" y="2476500"/>
            <a:ext cx="2419350" cy="2266950"/>
          </a:xfrm>
          <a:prstGeom prst="roundRect">
            <a:avLst>
              <a:gd name="adj" fmla="val 5042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771900" y="27622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02</a:t>
            </a:r>
            <a:endParaRPr sz="1500" b="1">
              <a:solidFill>
                <a:srgbClr val="246FB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771900" y="32861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3A67"/>
                </a:solidFill>
              </a:defRPr>
            </a:pPr>
            <a:r>
              <a:rPr sz="1875" b="1">
                <a:solidFill>
                  <a:srgbClr val="173A67"/>
                </a:solidFill>
              </a:rPr>
              <a:t>部门业务</a:t>
            </a:r>
            <a:endParaRPr sz="1875" b="1">
              <a:solidFill>
                <a:srgbClr val="173A6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771900" y="3829050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统一知识口径与模板，降低经验依赖，提升协同一致性。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24550" y="33337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43A7DF"/>
                </a:solidFill>
              </a:defRPr>
            </a:pPr>
            <a:r>
              <a:rPr sz="2250" b="1">
                <a:solidFill>
                  <a:srgbClr val="43A7DF"/>
                </a:solidFill>
              </a:rPr>
              <a:t>→</a:t>
            </a:r>
            <a:endParaRPr sz="2250" b="1">
              <a:solidFill>
                <a:srgbClr val="43A7D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305550" y="2476500"/>
            <a:ext cx="2419350" cy="2266950"/>
          </a:xfrm>
          <a:prstGeom prst="roundRect">
            <a:avLst>
              <a:gd name="adj" fmla="val 5042"/>
            </a:avLst>
          </a:prstGeom>
          <a:solidFill>
            <a:srgbClr val="173A67"/>
          </a:solidFill>
          <a:ln w="9525">
            <a:solidFill>
              <a:srgbClr val="173A6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553200" y="27622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C9E8F7"/>
                </a:solidFill>
              </a:defRPr>
            </a:pPr>
            <a:r>
              <a:rPr sz="1500" b="1">
                <a:solidFill>
                  <a:srgbClr val="C9E8F7"/>
                </a:solidFill>
              </a:rPr>
              <a:t>03</a:t>
            </a:r>
            <a:endParaRPr sz="1500" b="1">
              <a:solidFill>
                <a:srgbClr val="C9E8F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53200" y="32861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管理者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53200" y="3829050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E1EFF7"/>
                </a:solidFill>
              </a:defRPr>
            </a:pPr>
            <a:r>
              <a:rPr sz="1275" b="0">
                <a:solidFill>
                  <a:srgbClr val="E1EFF7"/>
                </a:solidFill>
              </a:rPr>
              <a:t>通过大屏和审计掌握服务运行、资源使用与优化方向。</a:t>
            </a:r>
            <a:endParaRPr sz="1275" b="0">
              <a:solidFill>
                <a:srgbClr val="E1EFF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05850" y="33337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43A7DF"/>
                </a:solidFill>
              </a:defRPr>
            </a:pPr>
            <a:r>
              <a:rPr sz="2250" b="1">
                <a:solidFill>
                  <a:srgbClr val="43A7DF"/>
                </a:solidFill>
              </a:rPr>
              <a:t>→</a:t>
            </a:r>
            <a:endParaRPr sz="2250" b="1">
              <a:solidFill>
                <a:srgbClr val="43A7D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086850" y="2476500"/>
            <a:ext cx="2419350" cy="2266950"/>
          </a:xfrm>
          <a:prstGeom prst="roundRect">
            <a:avLst>
              <a:gd name="adj" fmla="val 5042"/>
            </a:avLst>
          </a:prstGeom>
          <a:solidFill>
            <a:srgbClr val="F5F9FD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334500" y="27622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04</a:t>
            </a:r>
            <a:endParaRPr sz="1500" b="1">
              <a:solidFill>
                <a:srgbClr val="246FB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334500" y="32861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3A67"/>
                </a:solidFill>
              </a:defRPr>
            </a:pPr>
            <a:r>
              <a:rPr sz="1875" b="1">
                <a:solidFill>
                  <a:srgbClr val="173A67"/>
                </a:solidFill>
              </a:rPr>
              <a:t>组织能力</a:t>
            </a:r>
            <a:endParaRPr sz="1875" b="1">
              <a:solidFill>
                <a:srgbClr val="173A6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34500" y="3829050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沉淀知识资产与场景包，支撑跨部门复制和持续演进。</a:t>
            </a:r>
            <a:endParaRPr sz="1275" b="0">
              <a:solidFill>
                <a:srgbClr val="60718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38250" y="5486400"/>
            <a:ext cx="962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采用价值并不止于单点效率提升，更在于形成安全、可复用、可治理的组织级 AI 能力。</a:t>
            </a:r>
            <a:endParaRPr sz="1725" b="1">
              <a:solidFill>
                <a:srgbClr val="173A6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9527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政府采用后的价值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295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13</a:t>
            </a:r>
            <a:endParaRPr sz="1050" b="1">
              <a:solidFill>
                <a:srgbClr val="60718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6457950"/>
            <a:ext cx="10896600" cy="9525"/>
          </a:xfrm>
          <a:prstGeom prst="rect">
            <a:avLst/>
          </a:prstGeom>
          <a:solidFill>
            <a:srgbClr val="CAD9E8"/>
          </a:solidFill>
          <a:ln w="0">
            <a:solidFill>
              <a:srgbClr val="CAD9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6572250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  <a:endParaRPr sz="825" b="0">
              <a:solidFill>
                <a:srgbClr val="607182"/>
              </a:solidFill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7048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以“建议评估看板”把项目价值变成可持续改进的管理闭环</a:t>
            </a:r>
            <a:endParaRPr sz="2850" b="1">
              <a:solidFill>
                <a:srgbClr val="173A6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3620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先采集试点基线，再围绕业务、知识、治理和运营四类指标开展周期性复盘。 </a:t>
            </a:r>
            <a:endParaRPr sz="1350" b="0">
              <a:solidFill>
                <a:srgbClr val="607182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90575" y="2457450"/>
            <a:ext cx="2362200" cy="23812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90575" y="2457450"/>
            <a:ext cx="2362200" cy="85725"/>
          </a:xfrm>
          <a:prstGeom prst="rect">
            <a:avLst/>
          </a:prstGeom>
          <a:solidFill>
            <a:srgbClr val="43A7DF"/>
          </a:solidFill>
          <a:ln w="0">
            <a:solidFill>
              <a:srgbClr val="43A7D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38225" y="2857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业务效能</a:t>
            </a:r>
            <a:endParaRPr sz="1725" b="1">
              <a:solidFill>
                <a:srgbClr val="173A6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38225" y="3390900"/>
            <a:ext cx="171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材料初稿耗时</a:t>
            </a:r>
            <a:endParaRPr sz="1425" b="0">
              <a:solidFill>
                <a:srgbClr val="607182"/>
              </a:solidFill>
            </a:endParaRPr>
          </a:p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资料检索时长</a:t>
            </a:r>
            <a:endParaRPr sz="1425" b="0">
              <a:solidFill>
                <a:srgbClr val="607182"/>
              </a:solidFill>
            </a:endParaRPr>
          </a:p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会议整理效率</a:t>
            </a:r>
            <a:endParaRPr sz="1425" b="0">
              <a:solidFill>
                <a:srgbClr val="6071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38225" y="44481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3A7DF"/>
                </a:solidFill>
              </a:defRPr>
            </a:pPr>
            <a:r>
              <a:rPr sz="1050" b="1">
                <a:solidFill>
                  <a:srgbClr val="43A7DF"/>
                </a:solidFill>
              </a:rPr>
              <a:t>建议持续观测</a:t>
            </a:r>
            <a:endParaRPr sz="1050" b="1">
              <a:solidFill>
                <a:srgbClr val="43A7D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552825" y="2457450"/>
            <a:ext cx="2362200" cy="23812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52825" y="2457450"/>
            <a:ext cx="2362200" cy="85725"/>
          </a:xfrm>
          <a:prstGeom prst="rect">
            <a:avLst/>
          </a:prstGeom>
          <a:solidFill>
            <a:srgbClr val="246FB3"/>
          </a:solidFill>
          <a:ln w="0">
            <a:solidFill>
              <a:srgbClr val="246FB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800475" y="2857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知识资产</a:t>
            </a:r>
            <a:endParaRPr sz="1725" b="1">
              <a:solidFill>
                <a:srgbClr val="173A6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00475" y="3390900"/>
            <a:ext cx="171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知识覆盖范围</a:t>
            </a:r>
            <a:endParaRPr sz="1425" b="0">
              <a:solidFill>
                <a:srgbClr val="607182"/>
              </a:solidFill>
            </a:endParaRPr>
          </a:p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引用与命中情况</a:t>
            </a:r>
            <a:endParaRPr sz="1425" b="0">
              <a:solidFill>
                <a:srgbClr val="607182"/>
              </a:solidFill>
            </a:endParaRPr>
          </a:p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待补齐问题</a:t>
            </a:r>
            <a:endParaRPr sz="1425" b="0">
              <a:solidFill>
                <a:srgbClr val="60718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00475" y="44481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建议持续观测</a:t>
            </a:r>
            <a:endParaRPr sz="1050" b="1">
              <a:solidFill>
                <a:srgbClr val="246FB3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315075" y="2457450"/>
            <a:ext cx="2362200" cy="23812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315075" y="2457450"/>
            <a:ext cx="2362200" cy="85725"/>
          </a:xfrm>
          <a:prstGeom prst="rect">
            <a:avLst/>
          </a:prstGeom>
          <a:solidFill>
            <a:srgbClr val="173A67"/>
          </a:solidFill>
          <a:ln w="0">
            <a:solidFill>
              <a:srgbClr val="173A6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62725" y="2857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安全治理</a:t>
            </a:r>
            <a:endParaRPr sz="1725" b="1">
              <a:solidFill>
                <a:srgbClr val="173A6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62725" y="3390900"/>
            <a:ext cx="171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授权范围</a:t>
            </a:r>
            <a:endParaRPr sz="1425" b="0">
              <a:solidFill>
                <a:srgbClr val="607182"/>
              </a:solidFill>
            </a:endParaRPr>
          </a:p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审计记录</a:t>
            </a:r>
            <a:endParaRPr sz="1425" b="0">
              <a:solidFill>
                <a:srgbClr val="607182"/>
              </a:solidFill>
            </a:endParaRPr>
          </a:p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异常处置情况</a:t>
            </a:r>
            <a:endParaRPr sz="1425" b="0">
              <a:solidFill>
                <a:srgbClr val="60718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62725" y="44481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173A67"/>
                </a:solidFill>
              </a:defRPr>
            </a:pPr>
            <a:r>
              <a:rPr sz="1050" b="1">
                <a:solidFill>
                  <a:srgbClr val="173A67"/>
                </a:solidFill>
              </a:rPr>
              <a:t>建议持续观测</a:t>
            </a:r>
            <a:endParaRPr sz="1050" b="1">
              <a:solidFill>
                <a:srgbClr val="173A67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077325" y="2457450"/>
            <a:ext cx="2362200" cy="23812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CAD9E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077325" y="2457450"/>
            <a:ext cx="2362200" cy="85725"/>
          </a:xfrm>
          <a:prstGeom prst="rect">
            <a:avLst/>
          </a:prstGeom>
          <a:solidFill>
            <a:srgbClr val="3F8B70"/>
          </a:solidFill>
          <a:ln w="0">
            <a:solidFill>
              <a:srgbClr val="3F8B7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324975" y="2857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运营质量</a:t>
            </a:r>
            <a:endParaRPr sz="1725" b="1">
              <a:solidFill>
                <a:srgbClr val="173A6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24975" y="3390900"/>
            <a:ext cx="171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调用成功情况</a:t>
            </a:r>
            <a:endParaRPr sz="1425" b="0">
              <a:solidFill>
                <a:srgbClr val="607182"/>
              </a:solidFill>
            </a:endParaRPr>
          </a:p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资源使用与配额</a:t>
            </a:r>
            <a:endParaRPr sz="1425" b="0">
              <a:solidFill>
                <a:srgbClr val="607182"/>
              </a:solidFill>
            </a:endParaRPr>
          </a:p>
          <a:p>
            <a:pPr algn="l">
              <a:defRPr sz="1425" b="0">
                <a:solidFill>
                  <a:srgbClr val="607182"/>
                </a:solidFill>
              </a:defRPr>
            </a:pPr>
            <a:r>
              <a:rPr sz="1425" b="0">
                <a:solidFill>
                  <a:srgbClr val="607182"/>
                </a:solidFill>
              </a:rPr>
              <a:t>用户反馈</a:t>
            </a:r>
            <a:endParaRPr sz="1425" b="0">
              <a:solidFill>
                <a:srgbClr val="60718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324975" y="44481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F8B70"/>
                </a:solidFill>
              </a:defRPr>
            </a:pPr>
            <a:r>
              <a:rPr sz="1050" b="1">
                <a:solidFill>
                  <a:srgbClr val="3F8B70"/>
                </a:solidFill>
              </a:rPr>
              <a:t>建议持续观测</a:t>
            </a:r>
            <a:endParaRPr sz="1050" b="1">
              <a:solidFill>
                <a:srgbClr val="3F8B70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409700" y="5305425"/>
            <a:ext cx="9353550" cy="571500"/>
          </a:xfrm>
          <a:prstGeom prst="roundRect">
            <a:avLst>
              <a:gd name="adj" fmla="val 20000"/>
            </a:avLst>
          </a:prstGeom>
          <a:solidFill>
            <a:srgbClr val="E8F2FA"/>
          </a:solidFill>
          <a:ln w="0">
            <a:solidFill>
              <a:srgbClr val="E8F2F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733550" y="5486400"/>
            <a:ext cx="8705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试点基线 → 目标设定 → 持续观测 → 场景与知识优化</a:t>
            </a:r>
            <a:endParaRPr sz="1650" b="1">
              <a:solidFill>
                <a:srgbClr val="173A6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8096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A9DDF5"/>
                </a:solidFill>
              </a:defRPr>
            </a:pPr>
            <a:r>
              <a:rPr sz="1350" b="1">
                <a:solidFill>
                  <a:srgbClr val="A9DDF5"/>
                </a:solidFill>
              </a:rPr>
              <a:t>建设建议</a:t>
            </a:r>
            <a:endParaRPr sz="1350" b="1">
              <a:solidFill>
                <a:srgbClr val="A9DDF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1352550"/>
            <a:ext cx="75247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以统一 AI 能力底座</a:t>
            </a:r>
            <a:endParaRPr sz="3525" b="1">
              <a:solidFill>
                <a:srgbClr val="FFFFFF"/>
              </a:solidFill>
            </a:endParaRPr>
          </a:p>
          <a:p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支撑安全、专业、可运营的政务智能办公</a:t>
            </a:r>
            <a:endParaRPr sz="3525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2990850"/>
            <a:ext cx="914400" cy="57150"/>
          </a:xfrm>
          <a:prstGeom prst="rect">
            <a:avLst/>
          </a:prstGeom>
          <a:solidFill>
            <a:srgbClr val="43A7DF"/>
          </a:solidFill>
          <a:ln w="0">
            <a:solidFill>
              <a:srgbClr val="43A7D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3371850"/>
            <a:ext cx="657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D9ECF8"/>
                </a:solidFill>
              </a:defRPr>
            </a:pPr>
            <a:r>
              <a:rPr sz="1800" b="0">
                <a:solidFill>
                  <a:srgbClr val="D9ECF8"/>
                </a:solidFill>
              </a:rPr>
              <a:t>建议立即确定试点单位、试点部门和首批场景，</a:t>
            </a:r>
            <a:endParaRPr sz="1800" b="0">
              <a:solidFill>
                <a:srgbClr val="D9ECF8"/>
              </a:solidFill>
            </a:endParaRPr>
          </a:p>
          <a:p>
            <a:pPr algn="l">
              <a:defRPr sz="1800" b="0">
                <a:solidFill>
                  <a:srgbClr val="D9ECF8"/>
                </a:solidFill>
              </a:defRPr>
            </a:pPr>
            <a:r>
              <a:rPr sz="1800" b="0">
                <a:solidFill>
                  <a:srgbClr val="D9ECF8"/>
                </a:solidFill>
              </a:rPr>
              <a:t>同步完成部署边界、知识资料与审核流程调研。</a:t>
            </a:r>
            <a:endParaRPr sz="1800" b="0">
              <a:solidFill>
                <a:srgbClr val="D9ECF8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15300" y="1600200"/>
            <a:ext cx="2952750" cy="2838450"/>
          </a:xfrm>
          <a:prstGeom prst="roundRect">
            <a:avLst>
              <a:gd name="adj" fmla="val 4027"/>
            </a:avLst>
          </a:prstGeom>
          <a:solidFill>
            <a:srgbClr val="215280"/>
          </a:solidFill>
          <a:ln w="9525">
            <a:solidFill>
              <a:srgbClr val="3A78A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477250" y="19812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首批试点建议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0" y="2619375"/>
            <a:ext cx="2000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9ECF8"/>
                </a:solidFill>
              </a:defRPr>
            </a:pPr>
            <a:r>
              <a:rPr sz="1500" b="0">
                <a:solidFill>
                  <a:srgbClr val="D9ECF8"/>
                </a:solidFill>
              </a:rPr>
              <a:t>① 公文与材料辅助</a:t>
            </a:r>
            <a:endParaRPr sz="1500" b="0">
              <a:solidFill>
                <a:srgbClr val="D9ECF8"/>
              </a:solidFill>
            </a:endParaRPr>
          </a:p>
          <a:p>
            <a:endParaRPr sz="1500"/>
          </a:p>
          <a:p>
            <a:pPr algn="l">
              <a:defRPr sz="1500" b="0">
                <a:solidFill>
                  <a:srgbClr val="D9ECF8"/>
                </a:solidFill>
              </a:defRPr>
            </a:pPr>
            <a:r>
              <a:rPr sz="1500" b="0">
                <a:solidFill>
                  <a:srgbClr val="D9ECF8"/>
                </a:solidFill>
              </a:rPr>
              <a:t>② 政策制度问答</a:t>
            </a:r>
            <a:endParaRPr sz="1500" b="0">
              <a:solidFill>
                <a:srgbClr val="D9ECF8"/>
              </a:solidFill>
            </a:endParaRPr>
          </a:p>
          <a:p>
            <a:endParaRPr sz="1500"/>
          </a:p>
          <a:p>
            <a:pPr algn="l">
              <a:defRPr sz="1500" b="0">
                <a:solidFill>
                  <a:srgbClr val="D9ECF8"/>
                </a:solidFill>
              </a:defRPr>
            </a:pPr>
            <a:r>
              <a:rPr sz="1500" b="0">
                <a:solidFill>
                  <a:srgbClr val="D9ECF8"/>
                </a:solidFill>
              </a:rPr>
              <a:t>③ 会议纪要与信息报送</a:t>
            </a:r>
            <a:endParaRPr sz="1500" b="0">
              <a:solidFill>
                <a:srgbClr val="D9ECF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6096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A9DDF5"/>
                </a:solidFill>
              </a:defRPr>
            </a:pPr>
            <a:r>
              <a:rPr sz="1200" b="1">
                <a:solidFill>
                  <a:srgbClr val="A9DDF5"/>
                </a:solidFill>
              </a:rPr>
              <a:t>TokenHub + 黔前 AI 助手</a:t>
            </a:r>
            <a:endParaRPr sz="1200" b="1">
              <a:solidFill>
                <a:srgbClr val="A9DDF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477250" y="60960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9DDF5"/>
                </a:solidFill>
              </a:defRPr>
            </a:pPr>
            <a:r>
              <a:rPr sz="1050" b="0">
                <a:solidFill>
                  <a:srgbClr val="A9DDF5"/>
                </a:solidFill>
              </a:rPr>
              <a:t>政务智能办公平台建设方案</a:t>
            </a:r>
            <a:endParaRPr sz="1050" b="0">
              <a:solidFill>
                <a:srgbClr val="A9DDF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3126</Words>
  <Application>WPS 演示</Application>
  <PresentationFormat>Converted Presentation</PresentationFormat>
  <Paragraphs>449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</cp:lastModifiedBy>
  <cp:revision>1</cp:revision>
  <dcterms:created xsi:type="dcterms:W3CDTF">2026-07-10T10:28:33Z</dcterms:created>
  <dcterms:modified xsi:type="dcterms:W3CDTF">2026-07-10T10:28:33Z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B49AF192E16C411D824883CBC2BA4200_12</vt:lpwstr>
  </property>
  <property fmtid="{D5CDD505-2E9C-101B-9397-08002B2CF9AE}" pid="3" name="KSOProductBuildVer">
    <vt:lpwstr>2052-12.1.0.26895</vt:lpwstr>
  </property>
</Properties>
</file>