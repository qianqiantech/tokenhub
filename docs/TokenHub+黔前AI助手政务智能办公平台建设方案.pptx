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ff836f0cc1409a" /><Relationship Type="http://schemas.openxmlformats.org/officeDocument/2006/relationships/extended-properties" Target="/docProps/app.xml" Id="R9a3a1754e24d4066" /><Relationship Type="http://schemas.openxmlformats.org/officeDocument/2006/relationships/officeDocument" Target="/ppt/presentation.xml" Id="Re65881af17ad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8f83c0bff496e"/>
  </p:sldMasterIdLst>
  <p:notesMasterIdLst>
    <p:notesMasterId xmlns:r="http://schemas.openxmlformats.org/officeDocument/2006/relationships" r:id="Rd8f294b814e548cb"/>
  </p:notesMasterIdLst>
  <p:sldIdLst>
    <p:sldId xmlns:r="http://schemas.openxmlformats.org/officeDocument/2006/relationships" id="256" r:id="Rdd8de6b8b86d450c"/>
    <p:sldId xmlns:r="http://schemas.openxmlformats.org/officeDocument/2006/relationships" id="257" r:id="R31fb99add735450d"/>
    <p:sldId xmlns:r="http://schemas.openxmlformats.org/officeDocument/2006/relationships" id="258" r:id="Rb437e3f821c64f5e"/>
    <p:sldId xmlns:r="http://schemas.openxmlformats.org/officeDocument/2006/relationships" id="259" r:id="Rbcbf8405023b4bb7"/>
    <p:sldId xmlns:r="http://schemas.openxmlformats.org/officeDocument/2006/relationships" id="260" r:id="R3a58abef18b94a6b"/>
    <p:sldId xmlns:r="http://schemas.openxmlformats.org/officeDocument/2006/relationships" id="261" r:id="Ra86b38499b6b491b"/>
    <p:sldId xmlns:r="http://schemas.openxmlformats.org/officeDocument/2006/relationships" id="262" r:id="Re96489b1b0d64e9f"/>
    <p:sldId xmlns:r="http://schemas.openxmlformats.org/officeDocument/2006/relationships" id="263" r:id="R11a09c807993448d"/>
    <p:sldId xmlns:r="http://schemas.openxmlformats.org/officeDocument/2006/relationships" id="264" r:id="R9a004669acf14340"/>
    <p:sldId xmlns:r="http://schemas.openxmlformats.org/officeDocument/2006/relationships" id="265" r:id="Rbc291bead379437b"/>
    <p:sldId xmlns:r="http://schemas.openxmlformats.org/officeDocument/2006/relationships" id="266" r:id="R667a059cd02646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039eed26440f5" /><Relationship Type="http://schemas.openxmlformats.org/officeDocument/2006/relationships/slideMaster" Target="/ppt/slideMasters/slideMaster1.xml" Id="R7fa8f83c0bff496e" /><Relationship Type="http://schemas.openxmlformats.org/officeDocument/2006/relationships/notesMaster" Target="/ppt/notesMasters/notesMaster1.xml" Id="Rd8f294b814e548cb" /><Relationship Type="http://schemas.openxmlformats.org/officeDocument/2006/relationships/presProps" Target="/ppt/presProps.xml" Id="R4cb9e9b5a78e4a36" /><Relationship Type="http://schemas.openxmlformats.org/officeDocument/2006/relationships/tableStyles" Target="/ppt/tableStyles.xml" Id="Rf49e01786b63420c" /><Relationship Type="http://schemas.openxmlformats.org/officeDocument/2006/relationships/slide" Target="/ppt/slides/slide1.xml" Id="Rdd8de6b8b86d450c" /><Relationship Type="http://schemas.openxmlformats.org/officeDocument/2006/relationships/slide" Target="/ppt/slides/slide2.xml" Id="R31fb99add735450d" /><Relationship Type="http://schemas.openxmlformats.org/officeDocument/2006/relationships/slide" Target="/ppt/slides/slide3.xml" Id="Rb437e3f821c64f5e" /><Relationship Type="http://schemas.openxmlformats.org/officeDocument/2006/relationships/slide" Target="/ppt/slides/slide4.xml" Id="Rbcbf8405023b4bb7" /><Relationship Type="http://schemas.openxmlformats.org/officeDocument/2006/relationships/slide" Target="/ppt/slides/slide5.xml" Id="R3a58abef18b94a6b" /><Relationship Type="http://schemas.openxmlformats.org/officeDocument/2006/relationships/slide" Target="/ppt/slides/slide6.xml" Id="Ra86b38499b6b491b" /><Relationship Type="http://schemas.openxmlformats.org/officeDocument/2006/relationships/slide" Target="/ppt/slides/slide7.xml" Id="Re96489b1b0d64e9f" /><Relationship Type="http://schemas.openxmlformats.org/officeDocument/2006/relationships/slide" Target="/ppt/slides/slide8.xml" Id="R11a09c807993448d" /><Relationship Type="http://schemas.openxmlformats.org/officeDocument/2006/relationships/slide" Target="/ppt/slides/slide9.xml" Id="R9a004669acf14340" /><Relationship Type="http://schemas.openxmlformats.org/officeDocument/2006/relationships/slide" Target="/ppt/slides/slide10.xml" Id="Rbc291bead379437b" /><Relationship Type="http://schemas.openxmlformats.org/officeDocument/2006/relationships/slide" Target="/ppt/slides/slide11.xml" Id="R667a059cd02646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329922bd3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cf7d698ed7485a" /><Relationship Type="http://schemas.openxmlformats.org/officeDocument/2006/relationships/notesMaster" Target="/ppt/notesMasters/notesMaster1.xml" Id="R0fd61a1ca3ad4e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3298a51c944b4" /><Relationship Type="http://schemas.openxmlformats.org/officeDocument/2006/relationships/notesMaster" Target="/ppt/notesMasters/notesMaster1.xml" Id="R00681acee82745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88d71721948b0" /><Relationship Type="http://schemas.openxmlformats.org/officeDocument/2006/relationships/notesMaster" Target="/ppt/notesMasters/notesMaster1.xml" Id="R9d6e8c15e2c8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5826b147004c1d" /><Relationship Type="http://schemas.openxmlformats.org/officeDocument/2006/relationships/notesMaster" Target="/ppt/notesMasters/notesMaster1.xml" Id="Rff394b247b0446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f26687e364d2b" /><Relationship Type="http://schemas.openxmlformats.org/officeDocument/2006/relationships/notesMaster" Target="/ppt/notesMasters/notesMaster1.xml" Id="Rb432695da1c54f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fa8861e604eb9" /><Relationship Type="http://schemas.openxmlformats.org/officeDocument/2006/relationships/notesMaster" Target="/ppt/notesMasters/notesMaster1.xml" Id="R853707803819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614751cb3445ad" /><Relationship Type="http://schemas.openxmlformats.org/officeDocument/2006/relationships/notesMaster" Target="/ppt/notesMasters/notesMaster1.xml" Id="R843eeb7ec9f747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61cbed7a4fad" /><Relationship Type="http://schemas.openxmlformats.org/officeDocument/2006/relationships/notesMaster" Target="/ppt/notesMasters/notesMaster1.xml" Id="R82f2c8763a6f42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2edae11909467c" /><Relationship Type="http://schemas.openxmlformats.org/officeDocument/2006/relationships/notesMaster" Target="/ppt/notesMasters/notesMaster1.xml" Id="Reb869b3218dd4e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254645fbc04eb9" /><Relationship Type="http://schemas.openxmlformats.org/officeDocument/2006/relationships/notesMaster" Target="/ppt/notesMasters/notesMaster1.xml" Id="R80145b0144ba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11273937774ac8" /><Relationship Type="http://schemas.openxmlformats.org/officeDocument/2006/relationships/notesMaster" Target="/ppt/notesMasters/notesMaster1.xml" Id="R65f15de1731f47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8b34f84cd49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b89d5e74674d85" /><Relationship Type="http://schemas.openxmlformats.org/officeDocument/2006/relationships/slideLayout" Target="/ppt/slideLayouts/slideLayout1.xml" Id="R347e71aceae14e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e71aceae14e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f933ecbfa4a5e" /><Relationship Type="http://schemas.openxmlformats.org/officeDocument/2006/relationships/image" Target="/ppt/media/image.png" Id="Rc164633e3d504d08" /><Relationship Type="http://schemas.openxmlformats.org/officeDocument/2006/relationships/notesSlide" Target="/ppt/notesSlides/notesSlide1.xml" Id="R494b75b8cce7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6a9d28684448c" /><Relationship Type="http://schemas.openxmlformats.org/officeDocument/2006/relationships/notesSlide" Target="/ppt/notesSlides/notesSlide2.xml" Id="R5d8074840dd3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8ffd5b10647f3" /><Relationship Type="http://schemas.openxmlformats.org/officeDocument/2006/relationships/notesSlide" Target="/ppt/notesSlides/notesSlide3.xml" Id="Reefa9c00161c4f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cb42b1dc04aa0" /><Relationship Type="http://schemas.openxmlformats.org/officeDocument/2006/relationships/image" Target="/ppt/media/image2.png" Id="R1e088a64cd4744f2" /><Relationship Type="http://schemas.openxmlformats.org/officeDocument/2006/relationships/notesSlide" Target="/ppt/notesSlides/notesSlide4.xml" Id="R0c8ba2effd8348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477e6db0d499a" /><Relationship Type="http://schemas.openxmlformats.org/officeDocument/2006/relationships/notesSlide" Target="/ppt/notesSlides/notesSlide5.xml" Id="R21a337084cf8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a4ba8e82e4a22" /><Relationship Type="http://schemas.openxmlformats.org/officeDocument/2006/relationships/notesSlide" Target="/ppt/notesSlides/notesSlide6.xml" Id="R6631496ec33243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b129b825f45a0" /><Relationship Type="http://schemas.openxmlformats.org/officeDocument/2006/relationships/notesSlide" Target="/ppt/notesSlides/notesSlide7.xml" Id="Ree7ee4b232da47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5b13842e54ba9" /><Relationship Type="http://schemas.openxmlformats.org/officeDocument/2006/relationships/image" Target="/ppt/media/image3.png" Id="R6aedb337e93647f1" /><Relationship Type="http://schemas.openxmlformats.org/officeDocument/2006/relationships/notesSlide" Target="/ppt/notesSlides/notesSlide8.xml" Id="Ra33931c83eaa45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8257069914ea1" /><Relationship Type="http://schemas.openxmlformats.org/officeDocument/2006/relationships/notesSlide" Target="/ppt/notesSlides/notesSlide9.xml" Id="R05df0718c1ba4a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919c48ae84f9e" /><Relationship Type="http://schemas.openxmlformats.org/officeDocument/2006/relationships/notesSlide" Target="/ppt/notesSlides/notesSlide10.xml" Id="R5e2aa061dfb546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285b85e604078" /><Relationship Type="http://schemas.openxmlformats.org/officeDocument/2006/relationships/notesSlide" Target="/ppt/notesSlides/notesSlide11.xml" Id="R7c1dec04f33047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4633e3d504d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106AA-4838-45E0-A91A-A79A23B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85AB8-A216-4CC7-809F-A6B0B4D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5B81B-0820-4FD0-812E-A50CFD83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A67"/>
                </a:solidFill>
              </a:defRPr>
            </a:pPr>
            <a:r>
              <a:rPr sz="4050" b="1">
                <a:solidFill>
                  <a:srgbClr val="173A67"/>
                </a:solidFill>
              </a:rPr>
              <a:t>政务智能办公平台建设方案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2BED4-5F7B-4F62-B1B1-7E21561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7DF"/>
          </a:solidFill>
          <a:ln xmlns:a="http://schemas.openxmlformats.org/drawingml/2006/main" w="0">
            <a:solidFill>
              <a:srgbClr val="43A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C33C3-129F-4DE9-AAE5-828E8BE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FB3"/>
                </a:solidFill>
              </a:defRPr>
            </a:pPr>
            <a:r>
              <a:rPr sz="1725" b="1">
                <a:solidFill>
                  <a:srgbClr val="246FB3"/>
                </a:solidFill>
              </a:rPr>
              <a:t>TokenHub + 黔前 AI 助手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0A2EB-648C-44AB-9D4A-00CE99E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E"/>
                </a:solidFill>
              </a:defRPr>
            </a:pPr>
            <a:r>
              <a:rPr sz="1800" b="0">
                <a:solidFill>
                  <a:srgbClr val="182B3E"/>
                </a:solidFill>
              </a:rPr>
              <a:t>以统一 AI 能力底座，支撑安全可控的政务办公智能化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2ECD-3428-4E8B-BB60-2355AC10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0">
            <a:solidFill>
              <a:srgbClr val="E8F2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DE944-93F0-4A66-8886-CBFA3B3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数字政府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F62A8-5308-40B0-861A-3D01D980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0">
            <a:solidFill>
              <a:srgbClr val="E8F2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7F5A7-DE21-4F6A-89DC-AA4B582C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291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安全可控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A1694-E24C-4753-9A59-DECAB472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0">
            <a:solidFill>
              <a:srgbClr val="E8F2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2F55B-80FE-47EB-ACF8-BF5521BD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291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67"/>
                </a:solidFill>
              </a:defRPr>
            </a:pPr>
            <a:r>
              <a:rPr sz="1050" b="1">
                <a:solidFill>
                  <a:srgbClr val="173A67"/>
                </a:solidFill>
              </a:rPr>
              <a:t>集约建设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9C9AE-E52D-4CD3-BA2D-8C084EF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2026 年 7 月</a:t>
            </a:r>
          </a:p>
        </p:txBody>
      </p:sp>
    </p:spTree>
    <p:extLst>
      <p:ext uri="{BB962C8B-B14F-4D97-AF65-F5344CB8AC3E}">
        <p14:creationId xmlns:p14="http://schemas.microsoft.com/office/powerpoint/2010/main" val="735421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B2F59-EDC7-4A57-AB75-19C40FC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26694-BA25-427B-A104-55C17F37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D50DD-7412-424D-9B79-A3872B8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A98D2-0A44-4F13-88AC-B6521BB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22339-2CC4-4E4A-9215-4924A68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BE8E65-B099-4C46-A0D9-06AB322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政务办公的关键矛盾：事务密集，知识分散，安全边界刚性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25C4-8232-4847-9CC7-F4893FE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建设目标不是增加一个聊天窗口，而是把 AI 纳入可管理的政务工作流。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CB350-2C26-49FF-9E8B-4E800C6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7DF"/>
          </a:solidFill>
          <a:ln xmlns:a="http://schemas.openxmlformats.org/drawingml/2006/main" w="0">
            <a:solidFill>
              <a:srgbClr val="43A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E3840-803F-4A39-8A05-F2E9D8E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6FB3"/>
                </a:solidFill>
              </a:defRPr>
            </a:pPr>
            <a:r>
              <a:rPr sz="1950" b="1">
                <a:solidFill>
                  <a:srgbClr val="246FB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68BB1-3FC0-4685-90CD-BE4150C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02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3E"/>
                </a:solidFill>
              </a:defRPr>
            </a:pPr>
            <a:r>
              <a:rPr sz="1650" b="1">
                <a:solidFill>
                  <a:srgbClr val="182B3E"/>
                </a:solidFill>
              </a:rPr>
              <a:t>材料工作高频且规范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FC391-4CE5-4D3C-87D3-ED76C378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公文、汇报、纪要、信息报送等任务耗时，质量依赖经验人员。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53485-309D-4F21-9D2C-7BC116D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6FB3"/>
                </a:solidFill>
              </a:defRPr>
            </a:pPr>
            <a:r>
              <a:rPr sz="1950" b="1">
                <a:solidFill>
                  <a:srgbClr val="246FB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D6DE4-BACF-4BBF-831F-85D60FC7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02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3E"/>
                </a:solidFill>
              </a:defRPr>
            </a:pPr>
            <a:r>
              <a:rPr sz="1650" b="1">
                <a:solidFill>
                  <a:srgbClr val="182B3E"/>
                </a:solidFill>
              </a:rPr>
              <a:t>知识资产难以复用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3AC1B-F7C2-49BA-99CA-CCC1BB23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制度、政策、案例和流程资料分散，检索和口径核对成本高。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4DE74-5B66-4CE8-8CDB-BA20D6C1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6FB3"/>
                </a:solidFill>
              </a:defRPr>
            </a:pPr>
            <a:r>
              <a:rPr sz="1950" b="1">
                <a:solidFill>
                  <a:srgbClr val="246FB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3E704-5561-4D3E-B7C7-BBEC3BC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02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3E"/>
                </a:solidFill>
              </a:defRPr>
            </a:pPr>
            <a:r>
              <a:rPr sz="1650" b="1">
                <a:solidFill>
                  <a:srgbClr val="182B3E"/>
                </a:solidFill>
              </a:rPr>
              <a:t>安全与责任不可缺席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32AF2-F2B5-4917-B8AA-013A9C64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政务资料、使用权限、输出内容和运行过程都必须可控、可审计。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35B1C-2AA8-4BBC-914A-DD35C770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58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8A393-DF71-4E51-A267-47DAEE7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建设判断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D4FBD-27AE-46AB-AC45-4221FA0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7962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B3E"/>
                </a:solidFill>
              </a:defRPr>
            </a:pPr>
            <a:r>
              <a:rPr sz="1725" b="1">
                <a:solidFill>
                  <a:srgbClr val="182B3E"/>
                </a:solidFill>
              </a:rPr>
              <a:t>需要以统一底座把模型、知识、权限与审计集中管理；以政务工作台把能力封装为可用、可核、可推广的具体场景。</a:t>
            </a:r>
          </a:p>
        </p:txBody>
      </p:sp>
    </p:spTree>
    <p:extLst>
      <p:ext uri="{BB962C8B-B14F-4D97-AF65-F5344CB8AC3E}">
        <p14:creationId xmlns:p14="http://schemas.microsoft.com/office/powerpoint/2010/main" val="1351642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4C744-C2EA-441D-839F-71A9D17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D4355-9C00-4577-9898-7DE6DBF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5D043-C936-4B4A-A5B3-F2F5228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EA59B-0D4C-44F6-A772-8B012ED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DAD51-B4F3-43B1-8350-CF8CD507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40F8BD-4DAE-45F7-9D12-0D111C0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双层分工：黔前 AI 助手服务工作人员，TokenHub 治理 AI 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B51AD-52C2-42B4-95F6-9E6A8E76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前台重体验与场景，后台重模型、知识、安全与运营，避免能力重复建设。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BA1F5-3916-4E8D-B253-B71442CA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255-93B7-4697-A614-704A8DC7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67"/>
                </a:solidFill>
              </a:defRPr>
            </a:pPr>
            <a:r>
              <a:rPr sz="2325" b="1">
                <a:solidFill>
                  <a:srgbClr val="173A67"/>
                </a:solidFill>
              </a:rPr>
              <a:t>黔前 AI 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BCBC5-351B-4901-9402-BC4E4B9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政务工作台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0DEF0-4E47-4FBC-84ED-9D92418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公文与材料辅助</a:t>
            </a:r>
          </a:p>
          <a:p xmlns:a="http://schemas.openxmlformats.org/drawingml/2006/main"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政策制度问答</a:t>
            </a:r>
          </a:p>
          <a:p xmlns:a="http://schemas.openxmlformats.org/drawingml/2006/main"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会议纪要与信息报送</a:t>
            </a:r>
          </a:p>
          <a:p xmlns:a="http://schemas.openxmlformats.org/drawingml/2006/main">
            <a:pPr algn="l">
              <a:defRPr sz="1500" b="0">
                <a:solidFill>
                  <a:srgbClr val="182B3E"/>
                </a:solidFill>
              </a:defRPr>
            </a:pPr>
            <a:r>
              <a:rPr sz="1500" b="0">
                <a:solidFill>
                  <a:srgbClr val="182B3E"/>
                </a:solidFill>
              </a:rPr>
              <a:t>• 数字员工与自动化任务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49509-2178-424C-9DDD-BC996FA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86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182"/>
                </a:solidFill>
              </a:defRPr>
            </a:pPr>
            <a:r>
              <a:rPr sz="1200" b="1">
                <a:solidFill>
                  <a:srgbClr val="607182"/>
                </a:solidFill>
              </a:rPr>
              <a:t>受控 API 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C78DB-E404-4B12-BBD0-7C41CF1C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671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43A7DF"/>
                </a:solidFill>
              </a:defRPr>
            </a:pPr>
            <a:r>
              <a:rPr sz="3900" b="1">
                <a:solidFill>
                  <a:srgbClr val="43A7D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9C0F2-1964-4136-A554-90F16FA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44767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83B66"/>
          </a:solidFill>
          <a:ln xmlns:a="http://schemas.openxmlformats.org/drawingml/2006/main" w="9525">
            <a:solidFill>
              <a:srgbClr val="173A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3E763-0916-4CC5-A433-74D39675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TokenHub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BC410-B145-4A00-9B96-A7606D39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DBF2"/>
                </a:solidFill>
              </a:defRPr>
            </a:pPr>
            <a:r>
              <a:rPr sz="1500" b="1">
                <a:solidFill>
                  <a:srgbClr val="B8DBF2"/>
                </a:solidFill>
              </a:rPr>
              <a:t>统一 AI 能力底座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B52F3-745C-467A-ABD3-9673F263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1947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多模型接入与路由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RAG 知识库与文件处理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API Key 权限与审计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用量、配额与运行治理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967CB-949A-490B-B367-23B29EB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38800"/>
            <a:ext cx="872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核心价值：场景快速落地，同时保留组织级统一治理能力。</a:t>
            </a:r>
          </a:p>
        </p:txBody>
      </p:sp>
    </p:spTree>
    <p:extLst>
      <p:ext uri="{BB962C8B-B14F-4D97-AF65-F5344CB8AC3E}">
        <p14:creationId xmlns:p14="http://schemas.microsoft.com/office/powerpoint/2010/main" val="52195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E4B7B-9D53-42CF-B4AA-52006C9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1197B-A60A-4118-8517-24415BC4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E3506-668C-4EA1-88C5-81B21DF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40AB9-B86B-427D-8CF9-35556F1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D0946-DE52-4CA2-840D-972BA77D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F36F5-B589-490A-AC32-FEB3126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TokenHub 不是单一接口，而是政务 AI 服务的统一控制面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46914-D5C6-4A67-9834-3ABCB21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它把原本分散在各类模型、知识库和应用中的治理工作集中到一个底座。 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88a64cd4744f2"/>
          <a:srcRect xmlns:a="http://schemas.openxmlformats.org/drawingml/2006/main" l="12531" t="0" r="125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981200"/>
            <a:ext cx="4629150" cy="3476625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71BD8-C877-434E-9EB2-349956AD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31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87B7B-45C1-4B80-8B8C-061BAF61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47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73DC1-C7FC-434C-8D02-4431706D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0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模型服务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EF8AA-AD3F-4A47-BD09-633EB9E4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2943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统一接入不同模型，应用不直接绑定具体厂商。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F6F5B-E3AC-4622-8384-E1AA2BE7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31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D59CF-0FEA-4510-9D8D-4862205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76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FDB2F-3CDC-4397-A256-5F71BFFE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知识服务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C9A60-B60D-44EC-960F-7DE1014A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38475"/>
            <a:ext cx="2943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将文件、问答与向量检索沉淀为可复用的 RAG 服务。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AA21D-4155-48F2-B8CA-0CDE4FC4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531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330B3-A45E-4622-B059-A80D1462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05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EA1D8-0803-4141-92BF-62677417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权限服务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75F58-FBA6-4732-93A8-F85621B1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67150"/>
            <a:ext cx="2943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按应用/API Key 授权可调用模型与可访问知识资源。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04ABA-3768-4BD2-AC19-784ECD1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531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49B06-6D60-4866-ABDE-BD63F71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33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F3C7A-FAC9-4F4D-877D-936AC994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运营服务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F85FC-ABFC-484C-A29F-75FFFBF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95825"/>
            <a:ext cx="2943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对用量、配额、日志和异常进行集中管理。</a:t>
            </a:r>
          </a:p>
        </p:txBody>
      </p:sp>
    </p:spTree>
    <p:extLst>
      <p:ext uri="{BB962C8B-B14F-4D97-AF65-F5344CB8AC3E}">
        <p14:creationId xmlns:p14="http://schemas.microsoft.com/office/powerpoint/2010/main" val="2027615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C20FD-956D-4493-9508-E082BA68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5B21F-8207-450A-A6A5-EEAE1CC4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FDBD2-A07C-4857-88D2-6217AE8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94C61-095E-4157-A96D-54A1388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6DB43-5DFB-4B8E-9B48-5130031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F32287-5924-4194-98BE-DDDF729C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模型网关让政务应用“面向能力”而不是“绑定厂商”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CCEDA-E56E-4007-B616-F650DB9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一个工作台可以在受控策略下调用适合不同任务的模型，而无需反复改造业务系统。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1D6B6-9554-41A6-A0ED-D694356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A67"/>
                </a:solidFill>
              </a:defRPr>
            </a:pPr>
            <a:r>
              <a:rPr sz="1950" b="1">
                <a:solidFill>
                  <a:srgbClr val="173A67"/>
                </a:solidFill>
              </a:rPr>
              <a:t>政务工作台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310CD-B684-4E19-BC95-0A5F6A3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337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22F52-77D3-4D23-8376-D83B650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B3E"/>
                </a:solidFill>
              </a:defRPr>
            </a:pPr>
            <a:r>
              <a:rPr sz="1350" b="0">
                <a:solidFill>
                  <a:srgbClr val="182B3E"/>
                </a:solidFill>
              </a:rPr>
              <a:t>公文 / 问答 / 纪要</a:t>
            </a:r>
          </a:p>
          <a:p xmlns:a="http://schemas.openxmlformats.org/drawingml/2006/main">
            <a:pPr algn="ctr">
              <a:defRPr sz="1350" b="0">
                <a:solidFill>
                  <a:srgbClr val="182B3E"/>
                </a:solidFill>
              </a:defRPr>
            </a:pPr>
            <a:r>
              <a:rPr sz="1350" b="0">
                <a:solidFill>
                  <a:srgbClr val="182B3E"/>
                </a:solidFill>
              </a:rPr>
              <a:t>专题材料 / 自动化任务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AC748-8F72-41F0-82BC-C5B72E0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3372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43A7DF"/>
                </a:solidFill>
              </a:defRPr>
            </a:pPr>
            <a:r>
              <a:rPr sz="3900" b="1">
                <a:solidFill>
                  <a:srgbClr val="43A7D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B94C8-2DBD-4F06-9061-84F0699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9908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BC9F8-9C27-4B8D-824C-5C1847FA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TokenHub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模型网关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52461-C62B-4408-8BB7-93D90517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5E7F8"/>
                </a:solidFill>
              </a:defRPr>
            </a:pPr>
            <a:r>
              <a:rPr sz="1275" b="0">
                <a:solidFill>
                  <a:srgbClr val="C5E7F8"/>
                </a:solidFill>
              </a:rPr>
              <a:t>路由策略 · 可用性 · 权限</a:t>
            </a:r>
          </a:p>
          <a:p xmlns:a="http://schemas.openxmlformats.org/drawingml/2006/main">
            <a:pPr algn="ctr">
              <a:defRPr sz="1275" b="0">
                <a:solidFill>
                  <a:srgbClr val="C5E7F8"/>
                </a:solidFill>
              </a:defRPr>
            </a:pPr>
            <a:r>
              <a:rPr sz="1275" b="0">
                <a:solidFill>
                  <a:srgbClr val="C5E7F8"/>
                </a:solidFill>
              </a:rPr>
              <a:t>用量计量 · 异常治理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75B6A-DB29-4053-B432-5EAFC492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3372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43A7DF"/>
                </a:solidFill>
              </a:defRPr>
            </a:pPr>
            <a:r>
              <a:rPr sz="3900" b="1">
                <a:solidFill>
                  <a:srgbClr val="43A7D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D86B2-D624-484F-8116-9646515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55F7F-831C-4FC2-82DA-CBD6B4C8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67"/>
                </a:solidFill>
              </a:defRPr>
            </a:pPr>
            <a:r>
              <a:rPr sz="1425" b="1">
                <a:solidFill>
                  <a:srgbClr val="173A67"/>
                </a:solidFill>
              </a:rPr>
              <a:t>文本生成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D3910-EAC8-4848-ADE6-41DD5C2E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12681-9A21-4804-969E-B9853930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67"/>
                </a:solidFill>
              </a:defRPr>
            </a:pPr>
            <a:r>
              <a:rPr sz="1425" b="1">
                <a:solidFill>
                  <a:srgbClr val="173A67"/>
                </a:solidFill>
              </a:rPr>
              <a:t>长文理解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5D47A-81FD-49FC-AF6A-0D3E30C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ABCDD-8B46-4CBA-BAE0-BF80AB23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90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67"/>
                </a:solidFill>
              </a:defRPr>
            </a:pPr>
            <a:r>
              <a:rPr sz="1425" b="1">
                <a:solidFill>
                  <a:srgbClr val="173A67"/>
                </a:solidFill>
              </a:rPr>
              <a:t>向量检索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22DCB-0ECA-44EF-B999-F6B4BF0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9220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0">
            <a:solidFill>
              <a:srgbClr val="E8F2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81F3E-A25E-4805-A6E7-07FC8652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43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对政府的价值：模型可替换、调用可约束、故障可处置，新增场景不再重复做模型接入。</a:t>
            </a:r>
          </a:p>
        </p:txBody>
      </p:sp>
    </p:spTree>
    <p:extLst>
      <p:ext uri="{BB962C8B-B14F-4D97-AF65-F5344CB8AC3E}">
        <p14:creationId xmlns:p14="http://schemas.microsoft.com/office/powerpoint/2010/main" val="1489349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69A7CF-D29B-4DE2-A70E-F1697D8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34D0-6611-4F65-A2F8-888E5D1E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1285-55CB-420E-B3DB-5619EBA7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3EBAA-7373-4579-A163-B3933DE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D9868-5E73-445D-AA69-4CD136A5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3FCEBE-8F83-4EED-A15D-5CC587DE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RAG 知识服务把“文件堆”转化为可管理、可追溯的政务知识能力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659BB-FF80-4CE8-AE97-A5A8A89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知识库不只是上传文档，而是由权限、处理、检索、引用和持续更新共同构成的服务。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A3078-358A-48CA-B30D-613F1AB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93BC2-10CE-4EBA-90CE-8E80DE8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780C-0EE8-47D2-86FB-6E71B115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资料入库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C705A-0E53-4537-8946-1EB2A81B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制度、政策、流程、案例与专题材料按范围进入知识空间。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4BD64-9086-4724-BF16-B6769C8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05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3A7DF"/>
                </a:solidFill>
              </a:defRPr>
            </a:pPr>
            <a:r>
              <a:rPr sz="2400" b="1">
                <a:solidFill>
                  <a:srgbClr val="43A7D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72185-1146-40B9-BE1A-4B27081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19375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7A917-A8B1-47F0-A3F8-21E47538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8831F-90A2-4EC7-A2B1-47DD5CC9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智能处理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2AE14-42A7-49F3-8DAB-536C8DA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文件解析、切分与向量化，形成适配问答和材料辅助的检索基础。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C75E8-6341-4708-87FF-6F8C6125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05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3A7DF"/>
                </a:solidFill>
              </a:defRPr>
            </a:pPr>
            <a:r>
              <a:rPr sz="2400" b="1">
                <a:solidFill>
                  <a:srgbClr val="43A7D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B5F38-6685-41E1-96C2-5706E396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64CD2-65AE-47F7-986A-BB7FA37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7F058-242B-4B67-9B5F-014B6454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受控检索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95EBF-161C-4CD9-9A25-9AF4F2E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按用户、部门、应用与知识空间限制检索范围并返回依据。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E7DCA-2083-4064-85F2-8C48565D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305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3A7DF"/>
                </a:solidFill>
              </a:defRPr>
            </a:pPr>
            <a:r>
              <a:rPr sz="2400" b="1">
                <a:solidFill>
                  <a:srgbClr val="43A7D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B7D2D-35C9-47B7-A9A5-B3A674D0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19375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F3DBB-4C9B-4860-8E5A-48ABAA9F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57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A7DF"/>
                </a:solidFill>
              </a:defRPr>
            </a:pPr>
            <a:r>
              <a:rPr sz="1650" b="1">
                <a:solidFill>
                  <a:srgbClr val="43A7D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1A601-928B-4C79-817D-B1824794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场景交付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019B9-85E8-460D-B8D9-10091E3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147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2"/>
                </a:solidFill>
              </a:defRPr>
            </a:pPr>
            <a:r>
              <a:rPr sz="1200" b="0">
                <a:solidFill>
                  <a:srgbClr val="607182"/>
                </a:solidFill>
              </a:rPr>
              <a:t>在制度问答、材料起草、会议整理等场景中呈现可复核结果。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D3146-A664-4548-A70F-F5C70E25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知识价值不在于“存得更多”，而在于让授权人员更快获得有依据、可复核的答案与材料。</a:t>
            </a:r>
          </a:p>
        </p:txBody>
      </p:sp>
    </p:spTree>
    <p:extLst>
      <p:ext uri="{BB962C8B-B14F-4D97-AF65-F5344CB8AC3E}">
        <p14:creationId xmlns:p14="http://schemas.microsoft.com/office/powerpoint/2010/main" val="1099222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5E27C-232B-4B52-9EEF-77078D4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77AA5-612F-43C1-B426-211E731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TokenHub 核心价值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45519-26BD-4E8E-A333-2A61012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46B3A-3B7C-4E4B-B02C-13A92D4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7E278-E9AD-4074-9B49-993371C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6AB989-60B3-4030-940A-9CE5CADF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权限、审计与运营，让 AI 应用具备政务所需的可控性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5B6C-ABCA-467F-B330-B5FB5E5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TokenHub 将“谁能调用、能调用什么、调用了多少、发生了什么”固化为统一治理能力。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DD3C1-FDC3-4175-AF9C-C332970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31623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16532-A689-473E-B65A-B689CD7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58624-4EE2-453D-A7DB-DAB5D08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670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最小授权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81EAB-7F55-48C0-ABDD-1811A3CE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243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按应用/API Key 授予模型与知识库访问范围，避免业务侧直接持有上游厂商密钥。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1E8D8-8173-40AD-B2B9-1E4E203E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09825"/>
            <a:ext cx="31623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73A67"/>
          </a:solidFill>
          <a:ln xmlns:a="http://schemas.openxmlformats.org/drawingml/2006/main" w="9525">
            <a:solidFill>
              <a:srgbClr val="173A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DBFCB-D02E-4406-8FD3-5479DD4C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DDF5"/>
                </a:solidFill>
              </a:defRPr>
            </a:pPr>
            <a:r>
              <a:rPr sz="1650" b="1">
                <a:solidFill>
                  <a:srgbClr val="A8DDF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9A16F-BDCD-49F8-9D5E-EF50527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670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全程留痕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E4751-8444-447C-8553-8A499BDA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38575"/>
            <a:ext cx="243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CF6"/>
                </a:solidFill>
              </a:defRPr>
            </a:pPr>
            <a:r>
              <a:rPr sz="1350" b="0">
                <a:solidFill>
                  <a:srgbClr val="DCECF6"/>
                </a:solidFill>
              </a:rPr>
              <a:t>记录调用来源、模型、知识范围、用量与异常，支撑问题排查和责任追溯。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E394A-2BDB-4BDB-AEF8-BDF7C88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9825"/>
            <a:ext cx="31623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A342D-7D39-4FC9-BFD2-34C03A8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68AC-D334-47FF-91CB-DEFFC0E3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670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资源运营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C9EA0-8D94-4384-A96D-ACF97D3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243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按部门、应用、场景观察消耗与配额，为推广、预算和质量优化提供依据。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F4582-0355-42B9-BDD0-645E8E99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00700"/>
            <a:ext cx="887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安全不是事后补丁，而是 AI 服务底座从接入开始就具备的运行规则。</a:t>
            </a:r>
          </a:p>
        </p:txBody>
      </p:sp>
    </p:spTree>
    <p:extLst>
      <p:ext uri="{BB962C8B-B14F-4D97-AF65-F5344CB8AC3E}">
        <p14:creationId xmlns:p14="http://schemas.microsoft.com/office/powerpoint/2010/main" val="950923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5386B-A168-4752-9CC8-790A5A3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E3403-F949-4BD7-A130-C025FB7D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ABC0F-E7E1-4F2B-8C4D-050ADA0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C3E12-C9C4-4CE8-9F60-A9998E7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B96B5-F65F-480F-9B1F-E36AEBC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D294EE-FACC-4BC8-A1C5-C122698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先从高频、边界清晰的政务场景开始，让价值可感知、可评估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CA796-C1FA-421E-A1CC-FC25FFB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建议以“文稿、知识、会议、报送”四类任务作为首批试点，形成可复制的场景包。 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db337e93647f1"/>
          <a:srcRect xmlns:a="http://schemas.openxmlformats.org/drawingml/2006/main" l="0" t="533" r="0" b="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95500"/>
            <a:ext cx="5953125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BFA18-43D5-475B-901F-01509045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公文与材料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BEA03-DC17-4FEE-A406-5A78DB7E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860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提纲、初稿、润色、要点核对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63CC8-452E-49CF-A7D4-C49BDEA3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7DF"/>
          </a:solidFill>
          <a:ln xmlns:a="http://schemas.openxmlformats.org/drawingml/2006/main" w="0">
            <a:solidFill>
              <a:srgbClr val="43A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16E3E-3775-46CC-B7FC-607935B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政策制度问答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C4D8A-496E-4441-8107-770E8052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051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检索依据、统一口径、流程导航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EF31F-3502-4D87-B7B1-025F05C7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525D5-87CB-40A9-906A-BA473098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会议智能协同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11CD4-FA56-4128-B107-655C856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转写、纪要、待办、责任分工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FA1AE-2A46-4236-B924-8B51154D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1AA1A-C3B2-4CC9-97AF-5E51B95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信息报送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7A007-4630-4019-8B9A-D822FEF0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专题归纳、简报、材料汇总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6BC66-A1CF-4A5E-BBA5-EA49D901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04FEB-0909-4612-AA4F-46AD03DB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626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FB3"/>
                </a:solidFill>
              </a:defRPr>
            </a:pPr>
            <a:r>
              <a:rPr sz="1500" b="1">
                <a:solidFill>
                  <a:srgbClr val="246FB3"/>
                </a:solidFill>
              </a:rPr>
              <a:t>统一底座保障每个场景共享模型、知识、权限和审计能力，而非各自建设。</a:t>
            </a:r>
          </a:p>
        </p:txBody>
      </p:sp>
    </p:spTree>
    <p:extLst>
      <p:ext uri="{BB962C8B-B14F-4D97-AF65-F5344CB8AC3E}">
        <p14:creationId xmlns:p14="http://schemas.microsoft.com/office/powerpoint/2010/main" val="1722107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56D8EC-28C6-4532-887C-6C2A0406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1A551-AFF7-4C65-8613-8D42919A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82ABC-A749-4231-A8AC-1A291FB8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29381-2E49-49A3-977C-9CA9F21F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6F2C6-6DFB-41AE-AF8C-26301A2D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ED2D47-2222-4666-A33F-BDB32ACE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安全与信创适配应成为建设前提，而不是项目后期补项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82EEB-BD16-4F4C-B2AC-8C343F7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具体部署方式和适配清单应在调研阶段与现网环境、安全规范、采购要求共同确认。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D9C4D-E2CA-4ED0-92D4-E9DD86EF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3AFF8-F8B6-49B6-BA8D-97FFC50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私有化/专有环境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FCAB2-481C-47D0-AC9A-BE930670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按单位要求部署模型、知识库、文件处理与运行服务，明确数据处理边界。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92CDD-3BA1-400E-B142-BE01FEA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879D4-D5A3-4CB4-8075-9CF86CE3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知识分级隔离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E2ED4-150A-4318-9CDA-3826B57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670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按组织、部门、专题或密级规划知识空间与资料准入、检索、更新规则。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C327D-4E50-4A5C-A217-D9F29185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372A7-C57B-4EB0-9F85-0C7C1B9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信创兼容策略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BD94-83D8-4446-BECD-216AF626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优先适配现有国产软硬件和办公环境，模型与基础组件按项目要求选型。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AFEE3-8D69-41F1-855F-0AF800FF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D9836-696D-475A-A168-F65818F6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人工审核机制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88558-F251-4EDE-A14E-A8FC06EF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重要材料、对外发布与关键结论继续沿用现行审批、校核和留痕流程。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9BD14-2FA7-4C80-96AD-5FCCCDD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292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67"/>
                </a:solidFill>
              </a:defRPr>
            </a:pPr>
            <a:r>
              <a:rPr sz="1650" b="1">
                <a:solidFill>
                  <a:srgbClr val="173A67"/>
                </a:solidFill>
              </a:rPr>
              <a:t>以“数据不越界、人员不越权、内容可复核、过程可追溯”构建政务 AI 使用底线。</a:t>
            </a:r>
          </a:p>
        </p:txBody>
      </p:sp>
    </p:spTree>
    <p:extLst>
      <p:ext uri="{BB962C8B-B14F-4D97-AF65-F5344CB8AC3E}">
        <p14:creationId xmlns:p14="http://schemas.microsoft.com/office/powerpoint/2010/main" val="811660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EACE4-765E-4F42-807F-96190901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FB3"/>
          </a:solidFill>
          <a:ln xmlns:a="http://schemas.openxmlformats.org/drawingml/2006/main" w="0">
            <a:solidFill>
              <a:srgbClr val="246F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F6429-C317-42FF-905C-32B6816E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FB3"/>
                </a:solidFill>
              </a:defRPr>
            </a:pPr>
            <a:r>
              <a:rPr sz="1050" b="1">
                <a:solidFill>
                  <a:srgbClr val="246FB3"/>
                </a:solidFill>
              </a:rPr>
              <a:t>政务智能办公平台建设方案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62137-05D8-478C-BF55-B9F42E9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182"/>
                </a:solidFill>
              </a:defRPr>
            </a:pPr>
            <a:r>
              <a:rPr sz="1050" b="1">
                <a:solidFill>
                  <a:srgbClr val="60718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2B94D-72BB-4E42-955F-EE3BD6CB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76C32-66FD-4D4B-A27F-295D345C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2"/>
                </a:solidFill>
              </a:defRPr>
            </a:pPr>
            <a:r>
              <a:rPr sz="825" b="0">
                <a:solidFill>
                  <a:srgbClr val="607182"/>
                </a:solidFill>
              </a:rPr>
              <a:t>TokenHub + 黔前 AI 助手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BC6571-88B2-48E6-9EF2-E24F43F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分三步推进：试点验证、部门推广、协同深化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E5BF0-CDD5-435D-8ECF-C9DE757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82"/>
                </a:solidFill>
              </a:defRPr>
            </a:pPr>
            <a:r>
              <a:rPr sz="1350" b="0">
                <a:solidFill>
                  <a:srgbClr val="607182"/>
                </a:solidFill>
              </a:rPr>
              <a:t>以可用、可核、可控为每一阶段的共同验收原则。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80495-7EDC-4038-85C3-C3D8F0D3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47900"/>
            <a:ext cx="31813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B1A2B-B7DE-449D-B7AA-81DA7A00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98373-EC46-46F0-93B1-ED2A10C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试点验证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8DD65-A453-4558-B11E-F01AC1D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2—3 个高频场景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C50E8-5BAA-4E2E-80B1-7CA1662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工作台、知识空间、基础权限与审计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21476-8261-4564-B617-BFE47AB6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0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1C706-B395-428D-918B-17503C36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82"/>
                </a:solidFill>
              </a:defRPr>
            </a:pPr>
            <a:r>
              <a:rPr sz="1125" b="0">
                <a:solidFill>
                  <a:srgbClr val="607182"/>
                </a:solidFill>
              </a:rPr>
              <a:t>验证安全可用、回答有依据、流程能衔接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6362C-ED81-4C29-9FE7-EB7A9F7E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1813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73A67"/>
          </a:solidFill>
          <a:ln xmlns:a="http://schemas.openxmlformats.org/drawingml/2006/main" w="9525">
            <a:solidFill>
              <a:srgbClr val="173A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2DCC0-B19A-4140-9EAC-53995E8A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DDF2"/>
                </a:solidFill>
              </a:defRPr>
            </a:pPr>
            <a:r>
              <a:rPr sz="1650" b="1">
                <a:solidFill>
                  <a:srgbClr val="B7DDF2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95B55-7280-4879-AA2A-AFD2D0A6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部门推广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7552A-56E7-429E-B41E-C5122DA1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DDF2"/>
                </a:solidFill>
              </a:defRPr>
            </a:pPr>
            <a:r>
              <a:rPr sz="1350" b="1">
                <a:solidFill>
                  <a:srgbClr val="B7DDF2"/>
                </a:solidFill>
              </a:rPr>
              <a:t>场景包与模板沉淀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19203-A633-408D-B446-921F761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00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F2F9"/>
                </a:solidFill>
              </a:defRPr>
            </a:pPr>
            <a:r>
              <a:rPr sz="1275" b="0">
                <a:solidFill>
                  <a:srgbClr val="E5F2F9"/>
                </a:solidFill>
              </a:rPr>
              <a:t>分部门知识库、数字员工、培训与运营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1785D-A6C1-4B2E-80E0-CBF90B54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00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9CF"/>
          </a:solidFill>
          <a:ln xmlns:a="http://schemas.openxmlformats.org/drawingml/2006/main" w="0">
            <a:solidFill>
              <a:srgbClr val="6DA9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60B5C-3187-4A59-8DCD-D7D3596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F3"/>
                </a:solidFill>
              </a:defRPr>
            </a:pPr>
            <a:r>
              <a:rPr sz="1125" b="0">
                <a:solidFill>
                  <a:srgbClr val="D6E8F3"/>
                </a:solidFill>
              </a:rPr>
              <a:t>验证使用习惯、知识质量与资源治理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50239-064A-470F-9BA0-1DF29EF9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47900"/>
            <a:ext cx="31813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CD278-EA00-4088-933C-774A300D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71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FB3"/>
                </a:solidFill>
              </a:defRPr>
            </a:pPr>
            <a:r>
              <a:rPr sz="1650" b="1">
                <a:solidFill>
                  <a:srgbClr val="246FB3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5B274-D130-4E96-A003-91594E2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协同深化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9F106-F9F0-4D6D-9F6B-58034A8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24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FB3"/>
                </a:solidFill>
              </a:defRPr>
            </a:pPr>
            <a:r>
              <a:rPr sz="1350" b="1">
                <a:solidFill>
                  <a:srgbClr val="246FB3"/>
                </a:solidFill>
              </a:rPr>
              <a:t>按需对接既有系统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81D66-FB0D-4902-B73F-1931439F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100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2"/>
                </a:solidFill>
              </a:defRPr>
            </a:pPr>
            <a:r>
              <a:rPr sz="1275" b="0">
                <a:solidFill>
                  <a:srgbClr val="607182"/>
                </a:solidFill>
              </a:rPr>
              <a:t>标准接口、自动化任务、组织级治理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74572-F345-4576-ACA3-759D555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00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E8"/>
          </a:solidFill>
          <a:ln xmlns:a="http://schemas.openxmlformats.org/drawingml/2006/main" w="0">
            <a:solidFill>
              <a:srgbClr val="CAD9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DD549-0230-4FC7-B7F5-FE67539E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625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82"/>
                </a:solidFill>
              </a:defRPr>
            </a:pPr>
            <a:r>
              <a:rPr sz="1125" b="0">
                <a:solidFill>
                  <a:srgbClr val="607182"/>
                </a:solidFill>
              </a:rPr>
              <a:t>验证跨系统协同和能力复用</a:t>
            </a:r>
          </a:p>
        </p:txBody>
      </p:sp>
    </p:spTree>
    <p:extLst>
      <p:ext uri="{BB962C8B-B14F-4D97-AF65-F5344CB8AC3E}">
        <p14:creationId xmlns:p14="http://schemas.microsoft.com/office/powerpoint/2010/main" val="8467207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A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34F46D-AC49-4090-9383-E923B237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9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DF5"/>
                </a:solidFill>
              </a:defRPr>
            </a:pPr>
            <a:r>
              <a:rPr sz="1350" b="1">
                <a:solidFill>
                  <a:srgbClr val="A9DDF5"/>
                </a:solidFill>
              </a:rPr>
              <a:t>建设建议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7C948-FB9C-4CD2-B476-5D85E1E2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52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以统一 AI 能力底座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支撑安全、专业、可运营的政务智能办公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0D0CD-D43D-40EA-8492-9703227B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7DF"/>
          </a:solidFill>
          <a:ln xmlns:a="http://schemas.openxmlformats.org/drawingml/2006/main" w="0">
            <a:solidFill>
              <a:srgbClr val="43A7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F4678-0957-49FD-9A5B-3DC7DC6A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CF8"/>
                </a:solidFill>
              </a:defRPr>
            </a:pPr>
            <a:r>
              <a:rPr sz="1800" b="0">
                <a:solidFill>
                  <a:srgbClr val="D9ECF8"/>
                </a:solidFill>
              </a:rPr>
              <a:t>建议立即确定试点单位、试点部门和首批场景，</a:t>
            </a:r>
          </a:p>
          <a:p xmlns:a="http://schemas.openxmlformats.org/drawingml/2006/main">
            <a:pPr algn="l">
              <a:defRPr sz="1800" b="0">
                <a:solidFill>
                  <a:srgbClr val="D9ECF8"/>
                </a:solidFill>
              </a:defRPr>
            </a:pPr>
            <a:r>
              <a:rPr sz="1800" b="0">
                <a:solidFill>
                  <a:srgbClr val="D9ECF8"/>
                </a:solidFill>
              </a:rPr>
              <a:t>同步完成部署边界、知识资料与审核流程调研。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D434-2460-45B0-805B-79349B63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29527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215280"/>
          </a:solidFill>
          <a:ln xmlns:a="http://schemas.openxmlformats.org/drawingml/2006/main" w="9525">
            <a:solidFill>
              <a:srgbClr val="3A78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2B44A-5121-4631-9CF4-DAF9E671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首批试点建议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0FCE5-308E-4BF2-946F-E0A38ED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00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CF8"/>
                </a:solidFill>
              </a:defRPr>
            </a:pPr>
            <a:r>
              <a:rPr sz="1500" b="0">
                <a:solidFill>
                  <a:srgbClr val="D9ECF8"/>
                </a:solidFill>
              </a:rPr>
              <a:t>① 公文与材料辅助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9ECF8"/>
                </a:solidFill>
              </a:defRPr>
            </a:pPr>
            <a:r>
              <a:rPr sz="1500" b="0">
                <a:solidFill>
                  <a:srgbClr val="D9ECF8"/>
                </a:solidFill>
              </a:rPr>
              <a:t>② 政策制度问答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9ECF8"/>
                </a:solidFill>
              </a:defRPr>
            </a:pPr>
            <a:r>
              <a:rPr sz="1500" b="0">
                <a:solidFill>
                  <a:srgbClr val="D9ECF8"/>
                </a:solidFill>
              </a:rPr>
              <a:t>③ 会议纪要与信息报送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B4A62-D338-476B-A40E-B0D42D8D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DDF5"/>
                </a:solidFill>
              </a:defRPr>
            </a:pPr>
            <a:r>
              <a:rPr sz="1200" b="1">
                <a:solidFill>
                  <a:srgbClr val="A9DDF5"/>
                </a:solidFill>
              </a:rPr>
              <a:t>TokenHub + 黔前 AI 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D1B1-3594-4DCE-AF3E-D70569A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DF5"/>
                </a:solidFill>
              </a:defRPr>
            </a:pPr>
            <a:r>
              <a:rPr sz="1050" b="0">
                <a:solidFill>
                  <a:srgbClr val="A9DDF5"/>
                </a:solidFill>
              </a:rPr>
              <a:t>政务智能办公平台建设方案</a:t>
            </a:r>
          </a:p>
        </p:txBody>
      </p:sp>
    </p:spTree>
    <p:extLst>
      <p:ext uri="{BB962C8B-B14F-4D97-AF65-F5344CB8AC3E}">
        <p14:creationId xmlns:p14="http://schemas.microsoft.com/office/powerpoint/2010/main" val="1335752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2026-07-10T10:01:04.6220000Z</dcterms:created>
  <dcterms:modified xsi:type="dcterms:W3CDTF">2026-07-10T10:01:04.6220000Z</dcterms:modified>
</coreProperties>
</file>